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0F9ED5"/>
    <a:srgbClr val="E97132"/>
    <a:srgbClr val="7030A0"/>
    <a:srgbClr val="00B050"/>
    <a:srgbClr val="156082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06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1B0B78-0998-4994-BA35-AC12655997EF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32DE9C-AC09-4485-BD92-8EFCDCB5234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0114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32DE9C-AC09-4485-BD92-8EFCDCB52345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0096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F087BA-F39E-238C-ACBC-A3EA5012A7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89EEDBE-03CF-3CD9-6920-7C6F0079D1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F4F070-A4DA-5AEB-AA19-87DD5BA67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52E377-ED20-06F3-34B1-BEF694364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2BB768-7F31-4950-7361-5F7A8EAA0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6091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D87CBD-AC60-0B49-F7A1-9E5DDB8D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07E329-058B-7AA6-289D-73B42B36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616B3-161B-B8E2-63C4-F1F6977DC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E417BFD-C14F-49BD-51F5-8B8524B13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311CF5-68A0-A6DD-96C6-2D04D610F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5217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25415D-4C31-BD6C-155D-FCB85F0C7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E62CF6D-E415-541B-2DE4-313BEC910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16D0DE-E224-96C3-905E-302DEE1EC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9954AB-3421-D07B-5434-07C240D6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8A2A63-18A5-4765-1A50-EAA032EB3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721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ED10B1-84A1-B293-94D4-BCDC80B3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E702BA-E59C-F16C-E6F8-7720E0E4A8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26E7BD4-BBE2-26BB-6E93-C8EFD04579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7648276-B1E2-F6D4-E4ED-C03BFA9CD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752A330-1C24-B7A1-35DA-2432BE5CA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A8AC2A-57F5-B57E-3A3A-6130BFFB4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8684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8F1D5F-E9E8-F398-3207-D307BE86B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1566C8-4F95-06BE-AEDD-397376EE9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DF75193-71D8-1855-9D8E-02495F0A96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0313AA8-B77E-7291-9670-428E6C434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1CED02E-6011-0B9F-4F40-3B1F555276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ECDA222-AAAB-2E13-C343-5259A9F5C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4C58DC3-3AC7-F72F-C69F-B2145B478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18FABD1-A386-ADBB-729D-FC7645CF7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725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89C181-9094-4387-03DE-89F1C4089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BCC44A0-EFBA-B36D-0966-1E56DD0F3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491FC6-B24D-4473-79B5-E8A13842A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99C8DB8-7238-FF7C-1B3C-DCE48B84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769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16ED28F-137A-38BB-7060-2E341549B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D649BD9-3BB1-B855-1FF1-521584E77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C1EA67-FE13-AA3B-D926-383AFBC58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87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0A72A7-A8DC-4F97-2ECE-1AADA01E3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2FF044-7C7A-E2CF-7897-6024C978A8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76679C9-66E3-3B8E-AC2A-697365485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4D23076-9DD7-8E07-B869-73BD156D1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2A9A7CA-BB76-9704-9271-CCFCFFD6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89FC4C6-0238-FB34-34F2-B205832B4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5940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1FF81D-0AEE-D42A-211C-AA5F04866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6942985-AF63-E852-0B46-CDEE09A1AE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EE604C3-08AA-3548-6CC1-DCA8DAEA4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61B02DE-CF4F-B420-B452-0AB748F9A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0B1D2C7-3AC0-F2F5-B711-7F165B887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E64C43-2098-8F33-C4FE-48078CBAD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1259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A60B60-D65A-A9B1-CF70-2AD057DF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C935B7F-CB64-1E80-9023-A7241ED21C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3F46DC-FBAD-9D94-466A-284F2E11D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CF466A-5C27-1EFA-7DC0-8D1A34158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4D3A5E-B5F5-A7EF-56DA-DE4BAC2E7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2612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024A528-91C2-4F8D-2C8D-B5A04FA73C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B05D7DE-F254-4CB0-B1E0-9ACF2AD624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9A0A9B-F2C6-57D1-3DA1-4E6A95B79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FB079D-550C-BF33-2270-795EA2E04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997D25-2745-09B7-3D50-15BC9D6D3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208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BC3E9F4-DF6A-A713-8DBD-BB73DD440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9C09B5E-D308-DB81-C383-A298C7BD8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1F7B32-6B8D-CD94-8D8A-A8040004DD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C27BA-B253-496D-A458-8E48DAC590A4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E0F51E-861B-EA79-174B-40FB04403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A66F36-0676-B08D-0777-D83E9E5D4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B10745-F3B7-4036-8BD5-85BF5C63AD4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290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>
            <a:extLst>
              <a:ext uri="{FF2B5EF4-FFF2-40B4-BE49-F238E27FC236}">
                <a16:creationId xmlns:a16="http://schemas.microsoft.com/office/drawing/2014/main" id="{18CFE006-38B0-0594-D2B4-30A17BE8AC6F}"/>
              </a:ext>
            </a:extLst>
          </p:cNvPr>
          <p:cNvSpPr txBox="1"/>
          <p:nvPr/>
        </p:nvSpPr>
        <p:spPr>
          <a:xfrm>
            <a:off x="653144" y="1232263"/>
            <a:ext cx="114420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/>
              <a:t>Functional</a:t>
            </a:r>
            <a:r>
              <a:rPr lang="fr-FR" b="1" dirty="0"/>
              <a:t> </a:t>
            </a:r>
            <a:r>
              <a:rPr lang="fr-FR" b="1" dirty="0" err="1"/>
              <a:t>Stakeholder’s</a:t>
            </a:r>
            <a:r>
              <a:rPr lang="fr-FR" b="1" dirty="0"/>
              <a:t> </a:t>
            </a:r>
            <a:r>
              <a:rPr lang="fr-FR" b="1" dirty="0" err="1"/>
              <a:t>requirement</a:t>
            </a:r>
            <a:r>
              <a:rPr lang="fr-FR" b="1" dirty="0"/>
              <a:t> (</a:t>
            </a:r>
            <a:r>
              <a:rPr lang="fr-FR" b="1" dirty="0" err="1"/>
              <a:t>need</a:t>
            </a:r>
            <a:r>
              <a:rPr lang="fr-FR" b="1" dirty="0"/>
              <a:t>):</a:t>
            </a:r>
          </a:p>
          <a:p>
            <a:r>
              <a:rPr lang="fr-FR" dirty="0"/>
              <a:t>«  </a:t>
            </a:r>
            <a:r>
              <a:rPr lang="en-US" dirty="0"/>
              <a:t>BF001- The user wants the Workshop A’s DTS to simulate a scenario of machines allocation which he/she provides</a:t>
            </a:r>
            <a:r>
              <a:rPr lang="fr-FR" dirty="0"/>
              <a:t> 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D8DE0CB-12FD-6B63-7D2B-EC0D57079368}"/>
              </a:ext>
            </a:extLst>
          </p:cNvPr>
          <p:cNvSpPr txBox="1"/>
          <p:nvPr/>
        </p:nvSpPr>
        <p:spPr>
          <a:xfrm>
            <a:off x="822352" y="4682821"/>
            <a:ext cx="114420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/>
              <a:t>Functional</a:t>
            </a:r>
            <a:r>
              <a:rPr lang="fr-FR" b="1" dirty="0"/>
              <a:t> DTS </a:t>
            </a:r>
            <a:r>
              <a:rPr lang="fr-FR" b="1" dirty="0" err="1"/>
              <a:t>requirement</a:t>
            </a:r>
            <a:r>
              <a:rPr lang="fr-FR" b="1" dirty="0"/>
              <a:t> :</a:t>
            </a:r>
          </a:p>
          <a:p>
            <a:r>
              <a:rPr lang="fr-FR" dirty="0"/>
              <a:t>« </a:t>
            </a:r>
            <a:r>
              <a:rPr lang="en-US" dirty="0"/>
              <a:t>EF001 – </a:t>
            </a:r>
            <a:r>
              <a:rPr lang="en-US" b="1" dirty="0">
                <a:solidFill>
                  <a:schemeClr val="accent1"/>
                </a:solidFill>
              </a:rPr>
              <a:t>When a user provides a scenario of machines allocations</a:t>
            </a:r>
            <a:r>
              <a:rPr lang="en-US" b="1" dirty="0"/>
              <a:t>, </a:t>
            </a:r>
            <a:r>
              <a:rPr lang="en-US" b="1" dirty="0">
                <a:solidFill>
                  <a:srgbClr val="C00000"/>
                </a:solidFill>
              </a:rPr>
              <a:t>the Workshop A’s DTS</a:t>
            </a:r>
            <a:r>
              <a:rPr lang="en-US" b="1" dirty="0"/>
              <a:t> </a:t>
            </a:r>
            <a:r>
              <a:rPr lang="en-US" b="1" dirty="0">
                <a:solidFill>
                  <a:srgbClr val="00B050"/>
                </a:solidFill>
              </a:rPr>
              <a:t>shall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5"/>
                </a:solidFill>
              </a:rPr>
              <a:t>be able to simulate </a:t>
            </a:r>
            <a:r>
              <a:rPr lang="en-US" b="1" dirty="0">
                <a:solidFill>
                  <a:srgbClr val="E97132"/>
                </a:solidFill>
              </a:rPr>
              <a:t>it</a:t>
            </a:r>
            <a:r>
              <a:rPr lang="fr-FR" dirty="0"/>
              <a:t>»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6D89EBE2-F1D5-E7D0-FFAA-6183AD11451F}"/>
              </a:ext>
            </a:extLst>
          </p:cNvPr>
          <p:cNvGrpSpPr/>
          <p:nvPr/>
        </p:nvGrpSpPr>
        <p:grpSpPr>
          <a:xfrm>
            <a:off x="3584903" y="2430277"/>
            <a:ext cx="6309002" cy="2109410"/>
            <a:chOff x="2659153" y="3688017"/>
            <a:chExt cx="5685013" cy="1750970"/>
          </a:xfrm>
        </p:grpSpPr>
        <p:pic>
          <p:nvPicPr>
            <p:cNvPr id="7" name="Image 6" descr="Une image contenant texte, Police, capture d’écran, ligne&#10;&#10;Le contenu généré par l’IA peut être incorrect.">
              <a:extLst>
                <a:ext uri="{FF2B5EF4-FFF2-40B4-BE49-F238E27FC236}">
                  <a16:creationId xmlns:a16="http://schemas.microsoft.com/office/drawing/2014/main" id="{5BB4488D-24B6-B315-111C-80269F450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9153" y="3688017"/>
              <a:ext cx="5685013" cy="1436494"/>
            </a:xfrm>
            <a:prstGeom prst="rect">
              <a:avLst/>
            </a:prstGeom>
          </p:spPr>
        </p:pic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B9510A3C-F505-0382-3B28-49AA44B726D9}"/>
                </a:ext>
              </a:extLst>
            </p:cNvPr>
            <p:cNvSpPr/>
            <p:nvPr/>
          </p:nvSpPr>
          <p:spPr>
            <a:xfrm>
              <a:off x="2936723" y="4984207"/>
              <a:ext cx="275771" cy="22739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07371C2F-9282-3533-C580-F7F9AF196B99}"/>
                </a:ext>
              </a:extLst>
            </p:cNvPr>
            <p:cNvSpPr/>
            <p:nvPr/>
          </p:nvSpPr>
          <p:spPr>
            <a:xfrm>
              <a:off x="3834189" y="5026540"/>
              <a:ext cx="275771" cy="227390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734E613-7F80-346A-2838-8F67FE76227F}"/>
                </a:ext>
              </a:extLst>
            </p:cNvPr>
            <p:cNvSpPr/>
            <p:nvPr/>
          </p:nvSpPr>
          <p:spPr>
            <a:xfrm>
              <a:off x="4731655" y="5054359"/>
              <a:ext cx="275771" cy="22739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21C7E677-50C1-AADC-C429-5E01F51BAADF}"/>
                </a:ext>
              </a:extLst>
            </p:cNvPr>
            <p:cNvSpPr/>
            <p:nvPr/>
          </p:nvSpPr>
          <p:spPr>
            <a:xfrm>
              <a:off x="5885541" y="5211597"/>
              <a:ext cx="275771" cy="22739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5B82B02F-089F-5341-8C38-09E7EE145C5E}"/>
                </a:ext>
              </a:extLst>
            </p:cNvPr>
            <p:cNvSpPr/>
            <p:nvPr/>
          </p:nvSpPr>
          <p:spPr>
            <a:xfrm>
              <a:off x="6855579" y="4662474"/>
              <a:ext cx="275771" cy="22739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Flèche : bas 16">
            <a:extLst>
              <a:ext uri="{FF2B5EF4-FFF2-40B4-BE49-F238E27FC236}">
                <a16:creationId xmlns:a16="http://schemas.microsoft.com/office/drawing/2014/main" id="{4354C8F2-8833-45E3-C911-B94D1CE8AB5C}"/>
              </a:ext>
            </a:extLst>
          </p:cNvPr>
          <p:cNvSpPr/>
          <p:nvPr/>
        </p:nvSpPr>
        <p:spPr>
          <a:xfrm>
            <a:off x="2927235" y="2572666"/>
            <a:ext cx="275771" cy="2109410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8142F2D5-C3B6-5EFE-FF20-9A793557C3C2}"/>
              </a:ext>
            </a:extLst>
          </p:cNvPr>
          <p:cNvSpPr txBox="1"/>
          <p:nvPr/>
        </p:nvSpPr>
        <p:spPr>
          <a:xfrm>
            <a:off x="939901" y="3226259"/>
            <a:ext cx="20707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i="1" dirty="0"/>
              <a:t>After applying </a:t>
            </a:r>
            <a:r>
              <a:rPr lang="fr-FR" b="1" i="1" dirty="0" err="1"/>
              <a:t>RUPP’s</a:t>
            </a:r>
            <a:r>
              <a:rPr lang="fr-FR" b="1" i="1" dirty="0"/>
              <a:t> </a:t>
            </a:r>
            <a:r>
              <a:rPr lang="fr-FR" b="1" i="1" dirty="0" err="1"/>
              <a:t>boilerplate</a:t>
            </a:r>
            <a:endParaRPr lang="fr-FR" b="1" i="1" dirty="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0E515AD-E773-39A0-91ED-DBF92B76749A}"/>
              </a:ext>
            </a:extLst>
          </p:cNvPr>
          <p:cNvSpPr/>
          <p:nvPr/>
        </p:nvSpPr>
        <p:spPr>
          <a:xfrm>
            <a:off x="9265187" y="3741183"/>
            <a:ext cx="306040" cy="27393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7519BC-7839-E72D-28DC-8F644D881727}"/>
              </a:ext>
            </a:extLst>
          </p:cNvPr>
          <p:cNvSpPr/>
          <p:nvPr/>
        </p:nvSpPr>
        <p:spPr>
          <a:xfrm>
            <a:off x="428171" y="1088571"/>
            <a:ext cx="11335657" cy="123679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985315-A06B-0267-F386-977C73BB0198}"/>
              </a:ext>
            </a:extLst>
          </p:cNvPr>
          <p:cNvSpPr/>
          <p:nvPr/>
        </p:nvSpPr>
        <p:spPr>
          <a:xfrm>
            <a:off x="523095" y="4705129"/>
            <a:ext cx="11335657" cy="123679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8733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6EF4-BCB9-5C39-1B3F-1B96246E4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>
            <a:extLst>
              <a:ext uri="{FF2B5EF4-FFF2-40B4-BE49-F238E27FC236}">
                <a16:creationId xmlns:a16="http://schemas.microsoft.com/office/drawing/2014/main" id="{707B9CD1-F472-66FD-3461-2E0BC0D428EE}"/>
              </a:ext>
            </a:extLst>
          </p:cNvPr>
          <p:cNvSpPr txBox="1"/>
          <p:nvPr/>
        </p:nvSpPr>
        <p:spPr>
          <a:xfrm>
            <a:off x="628953" y="433977"/>
            <a:ext cx="114420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Stakeholder’s requirement (need) in terms of ergonomics and human factors </a:t>
            </a:r>
            <a:r>
              <a:rPr lang="fr-FR" b="1" dirty="0"/>
              <a:t>:</a:t>
            </a:r>
          </a:p>
          <a:p>
            <a:r>
              <a:rPr lang="fr-FR" dirty="0"/>
              <a:t>« </a:t>
            </a:r>
            <a:r>
              <a:rPr lang="en-US" dirty="0"/>
              <a:t>BT001- The user wants all Human-Machine Interfaces (HMIs) of the Workshop A’s DTS to be highly intuitive</a:t>
            </a:r>
            <a:r>
              <a:rPr lang="fr-FR" dirty="0"/>
              <a:t>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94EAD71-E71A-F6C4-8D6D-F6F23F230E6A}"/>
              </a:ext>
            </a:extLst>
          </p:cNvPr>
          <p:cNvSpPr txBox="1"/>
          <p:nvPr/>
        </p:nvSpPr>
        <p:spPr>
          <a:xfrm>
            <a:off x="798161" y="3884535"/>
            <a:ext cx="114420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DTS </a:t>
            </a:r>
            <a:r>
              <a:rPr lang="en-US" b="1" dirty="0"/>
              <a:t>requirements in terms of Interface (HMIs)</a:t>
            </a:r>
            <a:r>
              <a:rPr lang="fr-FR" b="1" dirty="0"/>
              <a:t>:</a:t>
            </a:r>
          </a:p>
          <a:p>
            <a:r>
              <a:rPr lang="en-US" dirty="0"/>
              <a:t>“ET001 – </a:t>
            </a:r>
            <a:r>
              <a:rPr lang="en-US" dirty="0">
                <a:solidFill>
                  <a:srgbClr val="C00000"/>
                </a:solidFill>
              </a:rPr>
              <a:t>The Workshop A’s DTS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should</a:t>
            </a:r>
            <a:r>
              <a:rPr lang="en-US" dirty="0"/>
              <a:t> </a:t>
            </a:r>
            <a:r>
              <a:rPr lang="en-US" dirty="0">
                <a:solidFill>
                  <a:srgbClr val="7030A0"/>
                </a:solidFill>
              </a:rPr>
              <a:t>provide the user with the ability to use in a highly intuitive way </a:t>
            </a:r>
            <a:r>
              <a:rPr lang="en-US" dirty="0">
                <a:solidFill>
                  <a:srgbClr val="E97132"/>
                </a:solidFill>
              </a:rPr>
              <a:t>the HMI</a:t>
            </a:r>
            <a:r>
              <a:rPr lang="en-US" dirty="0"/>
              <a:t> </a:t>
            </a:r>
            <a:r>
              <a:rPr lang="en-US" dirty="0">
                <a:solidFill>
                  <a:srgbClr val="46B1E1"/>
                </a:solidFill>
              </a:rPr>
              <a:t>dedicated to the simulation</a:t>
            </a:r>
            <a:r>
              <a:rPr lang="en-US" dirty="0"/>
              <a:t>.”</a:t>
            </a:r>
          </a:p>
          <a:p>
            <a:r>
              <a:rPr lang="en-US" dirty="0"/>
              <a:t>“ET002 – </a:t>
            </a:r>
            <a:r>
              <a:rPr lang="en-US" dirty="0">
                <a:solidFill>
                  <a:srgbClr val="C00000"/>
                </a:solidFill>
              </a:rPr>
              <a:t>The Workshop A’s DTS </a:t>
            </a:r>
            <a:r>
              <a:rPr lang="en-US" dirty="0">
                <a:solidFill>
                  <a:srgbClr val="00B050"/>
                </a:solidFill>
              </a:rPr>
              <a:t>shall</a:t>
            </a:r>
            <a:r>
              <a:rPr lang="en-US" dirty="0"/>
              <a:t> </a:t>
            </a:r>
            <a:r>
              <a:rPr lang="en-US" dirty="0">
                <a:solidFill>
                  <a:srgbClr val="7030A0"/>
                </a:solidFill>
              </a:rPr>
              <a:t>provide the user with the ability to use in a very simple and intuitive way</a:t>
            </a:r>
            <a:r>
              <a:rPr lang="en-US" dirty="0"/>
              <a:t> </a:t>
            </a:r>
            <a:r>
              <a:rPr lang="en-US" dirty="0">
                <a:solidFill>
                  <a:srgbClr val="E97132"/>
                </a:solidFill>
              </a:rPr>
              <a:t>the HMI</a:t>
            </a:r>
            <a:r>
              <a:rPr lang="en-US" dirty="0"/>
              <a:t> </a:t>
            </a:r>
            <a:r>
              <a:rPr lang="en-US" dirty="0">
                <a:solidFill>
                  <a:srgbClr val="46B1E1"/>
                </a:solidFill>
              </a:rPr>
              <a:t>dedicated to the visualization of the data contained in the database of products orders</a:t>
            </a:r>
            <a:r>
              <a:rPr lang="en-US" dirty="0"/>
              <a:t>.”</a:t>
            </a:r>
          </a:p>
          <a:p>
            <a:r>
              <a:rPr lang="en-US" dirty="0"/>
              <a:t>“ET003 - </a:t>
            </a:r>
            <a:r>
              <a:rPr lang="en-US" dirty="0">
                <a:solidFill>
                  <a:srgbClr val="C00000"/>
                </a:solidFill>
              </a:rPr>
              <a:t>The Workshop A’s DTS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shall</a:t>
            </a:r>
            <a:r>
              <a:rPr lang="en-US" dirty="0"/>
              <a:t> </a:t>
            </a:r>
            <a:r>
              <a:rPr lang="en-US" dirty="0">
                <a:solidFill>
                  <a:srgbClr val="7030A0"/>
                </a:solidFill>
              </a:rPr>
              <a:t>provide the user with the ability to use in a very simple and intuitive way</a:t>
            </a:r>
            <a:r>
              <a:rPr lang="en-US" dirty="0"/>
              <a:t> </a:t>
            </a:r>
            <a:r>
              <a:rPr lang="en-US" dirty="0">
                <a:solidFill>
                  <a:srgbClr val="E97132"/>
                </a:solidFill>
              </a:rPr>
              <a:t>the HMI</a:t>
            </a:r>
            <a:r>
              <a:rPr lang="en-US" dirty="0"/>
              <a:t> </a:t>
            </a:r>
            <a:r>
              <a:rPr lang="en-US" dirty="0">
                <a:solidFill>
                  <a:srgbClr val="46B1E1"/>
                </a:solidFill>
              </a:rPr>
              <a:t>dedicated to the visualization of the data contained in the database of energy loading</a:t>
            </a:r>
            <a:r>
              <a:rPr lang="en-US" dirty="0"/>
              <a:t>.”</a:t>
            </a:r>
            <a:endParaRPr lang="fr-FR" dirty="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5EFDB058-3BF5-A6A8-A5F2-11567D861659}"/>
              </a:ext>
            </a:extLst>
          </p:cNvPr>
          <p:cNvGrpSpPr/>
          <p:nvPr/>
        </p:nvGrpSpPr>
        <p:grpSpPr>
          <a:xfrm>
            <a:off x="3560712" y="1631991"/>
            <a:ext cx="6309002" cy="2109410"/>
            <a:chOff x="2659153" y="3688017"/>
            <a:chExt cx="5685013" cy="1750970"/>
          </a:xfrm>
        </p:grpSpPr>
        <p:pic>
          <p:nvPicPr>
            <p:cNvPr id="7" name="Image 6" descr="Une image contenant texte, Police, capture d’écran, ligne&#10;&#10;Le contenu généré par l’IA peut être incorrect.">
              <a:extLst>
                <a:ext uri="{FF2B5EF4-FFF2-40B4-BE49-F238E27FC236}">
                  <a16:creationId xmlns:a16="http://schemas.microsoft.com/office/drawing/2014/main" id="{6B4F6F0C-07DA-41BA-0CB1-0C719F26BC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9153" y="3688017"/>
              <a:ext cx="5685013" cy="1436494"/>
            </a:xfrm>
            <a:prstGeom prst="rect">
              <a:avLst/>
            </a:prstGeom>
          </p:spPr>
        </p:pic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8D6E8E80-F21B-8872-3BB6-32F163F97813}"/>
                </a:ext>
              </a:extLst>
            </p:cNvPr>
            <p:cNvSpPr/>
            <p:nvPr/>
          </p:nvSpPr>
          <p:spPr>
            <a:xfrm>
              <a:off x="2936723" y="4984207"/>
              <a:ext cx="275771" cy="227390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89E0BB2-0D50-685F-ADCC-815008F18EA1}"/>
                </a:ext>
              </a:extLst>
            </p:cNvPr>
            <p:cNvSpPr/>
            <p:nvPr/>
          </p:nvSpPr>
          <p:spPr>
            <a:xfrm>
              <a:off x="3834189" y="5026540"/>
              <a:ext cx="275771" cy="227390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59EF62A-35E2-A227-00DD-E09FE9D15785}"/>
                </a:ext>
              </a:extLst>
            </p:cNvPr>
            <p:cNvSpPr/>
            <p:nvPr/>
          </p:nvSpPr>
          <p:spPr>
            <a:xfrm>
              <a:off x="4731655" y="5054359"/>
              <a:ext cx="275771" cy="22739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3AE2B058-E89C-E5A1-6CC5-89F6144EC1B0}"/>
                </a:ext>
              </a:extLst>
            </p:cNvPr>
            <p:cNvSpPr/>
            <p:nvPr/>
          </p:nvSpPr>
          <p:spPr>
            <a:xfrm>
              <a:off x="5885541" y="5211597"/>
              <a:ext cx="275771" cy="227390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DD6C8FEB-7FB3-03ED-5453-8ABA8EC024D4}"/>
                </a:ext>
              </a:extLst>
            </p:cNvPr>
            <p:cNvSpPr/>
            <p:nvPr/>
          </p:nvSpPr>
          <p:spPr>
            <a:xfrm>
              <a:off x="6855579" y="4662474"/>
              <a:ext cx="275771" cy="227390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Flèche : bas 16">
            <a:extLst>
              <a:ext uri="{FF2B5EF4-FFF2-40B4-BE49-F238E27FC236}">
                <a16:creationId xmlns:a16="http://schemas.microsoft.com/office/drawing/2014/main" id="{3D977B88-C3CE-80D1-ACF6-5FF5E0FD8551}"/>
              </a:ext>
            </a:extLst>
          </p:cNvPr>
          <p:cNvSpPr/>
          <p:nvPr/>
        </p:nvSpPr>
        <p:spPr>
          <a:xfrm>
            <a:off x="2903044" y="1774380"/>
            <a:ext cx="275771" cy="2109410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481F1-CE8E-F258-5F7C-FFA0EC9649FA}"/>
              </a:ext>
            </a:extLst>
          </p:cNvPr>
          <p:cNvSpPr txBox="1"/>
          <p:nvPr/>
        </p:nvSpPr>
        <p:spPr>
          <a:xfrm>
            <a:off x="915710" y="2427973"/>
            <a:ext cx="20707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i="1" dirty="0"/>
              <a:t>After applying </a:t>
            </a:r>
            <a:r>
              <a:rPr lang="fr-FR" b="1" i="1" dirty="0" err="1"/>
              <a:t>RUPP’s</a:t>
            </a:r>
            <a:r>
              <a:rPr lang="fr-FR" b="1" i="1" dirty="0"/>
              <a:t> </a:t>
            </a:r>
            <a:r>
              <a:rPr lang="fr-FR" b="1" i="1" dirty="0" err="1"/>
              <a:t>boilerplate</a:t>
            </a:r>
            <a:endParaRPr lang="fr-FR" b="1" i="1" dirty="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C53B3CFD-1DC7-12E5-71DA-376593AF659A}"/>
              </a:ext>
            </a:extLst>
          </p:cNvPr>
          <p:cNvSpPr/>
          <p:nvPr/>
        </p:nvSpPr>
        <p:spPr>
          <a:xfrm>
            <a:off x="9240996" y="2942897"/>
            <a:ext cx="306040" cy="27393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EEAC30-8A23-A086-D99A-BE6E6E4E67D1}"/>
              </a:ext>
            </a:extLst>
          </p:cNvPr>
          <p:cNvSpPr/>
          <p:nvPr/>
        </p:nvSpPr>
        <p:spPr>
          <a:xfrm>
            <a:off x="403980" y="290285"/>
            <a:ext cx="11335657" cy="123679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33C0E1-C956-9BB3-ABFE-5B83A449EAF8}"/>
              </a:ext>
            </a:extLst>
          </p:cNvPr>
          <p:cNvSpPr/>
          <p:nvPr/>
        </p:nvSpPr>
        <p:spPr>
          <a:xfrm>
            <a:off x="498904" y="3906843"/>
            <a:ext cx="11335657" cy="251718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3516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6AB4-F530-67F6-43C8-C6ED04F14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>
            <a:extLst>
              <a:ext uri="{FF2B5EF4-FFF2-40B4-BE49-F238E27FC236}">
                <a16:creationId xmlns:a16="http://schemas.microsoft.com/office/drawing/2014/main" id="{919C3066-0540-7C7A-300C-3DC007B136E4}"/>
              </a:ext>
            </a:extLst>
          </p:cNvPr>
          <p:cNvSpPr txBox="1"/>
          <p:nvPr/>
        </p:nvSpPr>
        <p:spPr>
          <a:xfrm>
            <a:off x="2260238" y="1228143"/>
            <a:ext cx="8121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Non-functional stakeholder’s requirement (need) in terms of </a:t>
            </a:r>
            <a:r>
              <a:rPr lang="en-US" b="1" dirty="0" err="1"/>
              <a:t>Evolutivity</a:t>
            </a:r>
            <a:r>
              <a:rPr lang="en-US" b="1" dirty="0"/>
              <a:t> </a:t>
            </a:r>
            <a:r>
              <a:rPr lang="fr-FR" b="1" dirty="0"/>
              <a:t>:</a:t>
            </a:r>
          </a:p>
          <a:p>
            <a:r>
              <a:rPr lang="fr-FR" dirty="0"/>
              <a:t>«  </a:t>
            </a:r>
            <a:r>
              <a:rPr lang="en-US" dirty="0"/>
              <a:t>NNF004- All the stakeholders want the Workshop A’s DTS to be easy to evolve.</a:t>
            </a:r>
            <a:r>
              <a:rPr lang="fr-FR" dirty="0"/>
              <a:t> 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1E42A4F-D336-0BAE-900B-3FCDA9590E7B}"/>
              </a:ext>
            </a:extLst>
          </p:cNvPr>
          <p:cNvSpPr txBox="1"/>
          <p:nvPr/>
        </p:nvSpPr>
        <p:spPr>
          <a:xfrm>
            <a:off x="2353398" y="4720897"/>
            <a:ext cx="6127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Non-functional</a:t>
            </a:r>
            <a:r>
              <a:rPr lang="fr-FR" b="1" dirty="0"/>
              <a:t> </a:t>
            </a:r>
            <a:r>
              <a:rPr lang="en-US" b="1" noProof="0" dirty="0"/>
              <a:t>DTS requirement :</a:t>
            </a:r>
          </a:p>
          <a:p>
            <a:r>
              <a:rPr lang="fr-FR" dirty="0"/>
              <a:t>« </a:t>
            </a:r>
            <a:r>
              <a:rPr lang="en-US" dirty="0"/>
              <a:t>RNF004 –</a:t>
            </a:r>
            <a:r>
              <a:rPr lang="en-US" b="1" dirty="0">
                <a:solidFill>
                  <a:srgbClr val="00B050"/>
                </a:solidFill>
              </a:rPr>
              <a:t>The Workshop A’s DTS </a:t>
            </a:r>
            <a:r>
              <a:rPr lang="en-US" b="1" dirty="0">
                <a:solidFill>
                  <a:srgbClr val="7030A0"/>
                </a:solidFill>
              </a:rPr>
              <a:t>shall </a:t>
            </a:r>
            <a:r>
              <a:rPr lang="en-US" b="1" dirty="0">
                <a:solidFill>
                  <a:srgbClr val="E97132"/>
                </a:solidFill>
              </a:rPr>
              <a:t>be easy to evolve</a:t>
            </a:r>
            <a:r>
              <a:rPr lang="fr-FR" dirty="0"/>
              <a:t>»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B82197F4-69E8-861E-764B-2B02F7CCCD36}"/>
              </a:ext>
            </a:extLst>
          </p:cNvPr>
          <p:cNvGrpSpPr/>
          <p:nvPr/>
        </p:nvGrpSpPr>
        <p:grpSpPr>
          <a:xfrm>
            <a:off x="3586583" y="2383577"/>
            <a:ext cx="5913632" cy="1988992"/>
            <a:chOff x="3586583" y="2383577"/>
            <a:chExt cx="5913632" cy="1988992"/>
          </a:xfrm>
        </p:grpSpPr>
        <p:pic>
          <p:nvPicPr>
            <p:cNvPr id="3" name="Image 2" descr="Une image contenant texte, capture d’écran, Police, ligne&#10;&#10;Le contenu généré par l’IA peut être incorrect.">
              <a:extLst>
                <a:ext uri="{FF2B5EF4-FFF2-40B4-BE49-F238E27FC236}">
                  <a16:creationId xmlns:a16="http://schemas.microsoft.com/office/drawing/2014/main" id="{0630BA62-1641-6F7C-DB40-B8CA0955B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86583" y="2383577"/>
              <a:ext cx="5913632" cy="1988992"/>
            </a:xfrm>
            <a:prstGeom prst="rect">
              <a:avLst/>
            </a:prstGeom>
          </p:spPr>
        </p:pic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3BF4A4FE-9998-47F6-262F-D9B4306CF0CE}"/>
                </a:ext>
              </a:extLst>
            </p:cNvPr>
            <p:cNvSpPr/>
            <p:nvPr/>
          </p:nvSpPr>
          <p:spPr>
            <a:xfrm>
              <a:off x="3797051" y="4059959"/>
              <a:ext cx="306040" cy="27393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DC09A75-2FD7-B0F0-827B-D3B7C5E3874C}"/>
                </a:ext>
              </a:extLst>
            </p:cNvPr>
            <p:cNvSpPr/>
            <p:nvPr/>
          </p:nvSpPr>
          <p:spPr>
            <a:xfrm>
              <a:off x="5354842" y="3952673"/>
              <a:ext cx="306040" cy="273939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AEF01D27-B1C6-8BC6-E82F-C15E9621137A}"/>
                </a:ext>
              </a:extLst>
            </p:cNvPr>
            <p:cNvSpPr/>
            <p:nvPr/>
          </p:nvSpPr>
          <p:spPr>
            <a:xfrm>
              <a:off x="7123101" y="3735620"/>
              <a:ext cx="306040" cy="273939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288B91A0-0231-EF64-141F-305626FD306B}"/>
                </a:ext>
              </a:extLst>
            </p:cNvPr>
            <p:cNvSpPr/>
            <p:nvPr/>
          </p:nvSpPr>
          <p:spPr>
            <a:xfrm>
              <a:off x="8055574" y="3587219"/>
              <a:ext cx="306040" cy="273939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F9B56F8C-47F9-D203-0607-54371F6D147F}"/>
                </a:ext>
              </a:extLst>
            </p:cNvPr>
            <p:cNvSpPr/>
            <p:nvPr/>
          </p:nvSpPr>
          <p:spPr>
            <a:xfrm>
              <a:off x="8924797" y="3724188"/>
              <a:ext cx="306040" cy="273939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Flèche : bas 16">
            <a:extLst>
              <a:ext uri="{FF2B5EF4-FFF2-40B4-BE49-F238E27FC236}">
                <a16:creationId xmlns:a16="http://schemas.microsoft.com/office/drawing/2014/main" id="{67DD141B-F6E7-9675-C6AE-FF74E9A71358}"/>
              </a:ext>
            </a:extLst>
          </p:cNvPr>
          <p:cNvSpPr/>
          <p:nvPr/>
        </p:nvSpPr>
        <p:spPr>
          <a:xfrm>
            <a:off x="2927235" y="2572666"/>
            <a:ext cx="275771" cy="2109410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5820A4D-134A-BAEC-E36B-74138A4CB2DD}"/>
              </a:ext>
            </a:extLst>
          </p:cNvPr>
          <p:cNvSpPr txBox="1"/>
          <p:nvPr/>
        </p:nvSpPr>
        <p:spPr>
          <a:xfrm>
            <a:off x="939901" y="3226259"/>
            <a:ext cx="20707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noProof="0" dirty="0"/>
              <a:t>After applying EARS’ boilerplate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F7C952-7409-79C8-F8F7-166CE74C6FB8}"/>
              </a:ext>
            </a:extLst>
          </p:cNvPr>
          <p:cNvSpPr/>
          <p:nvPr/>
        </p:nvSpPr>
        <p:spPr>
          <a:xfrm>
            <a:off x="2035266" y="1084451"/>
            <a:ext cx="8346440" cy="123679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9B13BD-26FA-FF13-F0B9-274984A2F276}"/>
              </a:ext>
            </a:extLst>
          </p:cNvPr>
          <p:cNvSpPr/>
          <p:nvPr/>
        </p:nvSpPr>
        <p:spPr>
          <a:xfrm>
            <a:off x="2054141" y="4743206"/>
            <a:ext cx="6307473" cy="942736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2668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7CA0B-17D5-1F26-C165-EBB01FB56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>
            <a:extLst>
              <a:ext uri="{FF2B5EF4-FFF2-40B4-BE49-F238E27FC236}">
                <a16:creationId xmlns:a16="http://schemas.microsoft.com/office/drawing/2014/main" id="{7C2211EE-8808-6BC7-86EF-A32A37CC30F9}"/>
              </a:ext>
            </a:extLst>
          </p:cNvPr>
          <p:cNvSpPr txBox="1"/>
          <p:nvPr/>
        </p:nvSpPr>
        <p:spPr>
          <a:xfrm>
            <a:off x="1104493" y="826644"/>
            <a:ext cx="9829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Operational stakeholder’s requirement (need) in terms of Installation/Deployment/Delivery /Configuration</a:t>
            </a:r>
            <a:r>
              <a:rPr lang="fr-FR" b="1" dirty="0"/>
              <a:t>:</a:t>
            </a:r>
          </a:p>
          <a:p>
            <a:r>
              <a:rPr lang="fr-FR" dirty="0"/>
              <a:t>«  </a:t>
            </a:r>
            <a:r>
              <a:rPr lang="en-US" dirty="0"/>
              <a:t>NO001- The Company wants any version of any Modeling &amp; Simulation’s sub-project composing the Workshop A’s DTS to be stored and accessible for any update-related modifications within a repository</a:t>
            </a:r>
            <a:r>
              <a:rPr lang="fr-FR" dirty="0"/>
              <a:t>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E65F532-A3F9-5B17-DEE7-E1C353637FC0}"/>
              </a:ext>
            </a:extLst>
          </p:cNvPr>
          <p:cNvSpPr txBox="1"/>
          <p:nvPr/>
        </p:nvSpPr>
        <p:spPr>
          <a:xfrm>
            <a:off x="1386280" y="4861229"/>
            <a:ext cx="97364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/>
              <a:t>Operational DTS requirement </a:t>
            </a:r>
            <a:r>
              <a:rPr lang="en-US" b="1" dirty="0"/>
              <a:t>in terms of Installation/Deployment/Delivery/Configuration</a:t>
            </a:r>
            <a:r>
              <a:rPr lang="fr-FR" b="1" dirty="0"/>
              <a:t>:</a:t>
            </a:r>
          </a:p>
          <a:p>
            <a:r>
              <a:rPr lang="fr-FR" dirty="0"/>
              <a:t>« </a:t>
            </a:r>
            <a:r>
              <a:rPr lang="en-US" dirty="0"/>
              <a:t>RO001 –</a:t>
            </a:r>
            <a:r>
              <a:rPr lang="en-US" b="1" dirty="0">
                <a:solidFill>
                  <a:srgbClr val="156082"/>
                </a:solidFill>
              </a:rPr>
              <a:t>While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b="1" dirty="0">
                <a:solidFill>
                  <a:srgbClr val="C00000"/>
                </a:solidFill>
              </a:rPr>
              <a:t>the Workshop A’s DTS is deployed, delivered and configured,</a:t>
            </a:r>
            <a:r>
              <a:rPr lang="en-US" b="1" dirty="0">
                <a:solidFill>
                  <a:srgbClr val="00B050"/>
                </a:solidFill>
              </a:rPr>
              <a:t> any Workshop A’s DTS’ version of any Modeling &amp; Simulation’s sub-project composing it </a:t>
            </a:r>
            <a:r>
              <a:rPr lang="en-US" b="1" dirty="0">
                <a:solidFill>
                  <a:srgbClr val="7030A0"/>
                </a:solidFill>
              </a:rPr>
              <a:t>shall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b="1" dirty="0">
                <a:solidFill>
                  <a:srgbClr val="E97132"/>
                </a:solidFill>
              </a:rPr>
              <a:t>be stored and accessible for any update-related modifications within a central repository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fr-FR" dirty="0"/>
              <a:t>»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5690CE38-0A83-E846-EC91-F0D1990B3544}"/>
              </a:ext>
            </a:extLst>
          </p:cNvPr>
          <p:cNvGrpSpPr/>
          <p:nvPr/>
        </p:nvGrpSpPr>
        <p:grpSpPr>
          <a:xfrm>
            <a:off x="3586583" y="2383577"/>
            <a:ext cx="5913632" cy="1988992"/>
            <a:chOff x="3586583" y="2383577"/>
            <a:chExt cx="5913632" cy="1988992"/>
          </a:xfrm>
        </p:grpSpPr>
        <p:pic>
          <p:nvPicPr>
            <p:cNvPr id="3" name="Image 2" descr="Une image contenant texte, capture d’écran, Police, ligne&#10;&#10;Le contenu généré par l’IA peut être incorrect.">
              <a:extLst>
                <a:ext uri="{FF2B5EF4-FFF2-40B4-BE49-F238E27FC236}">
                  <a16:creationId xmlns:a16="http://schemas.microsoft.com/office/drawing/2014/main" id="{16BB42BD-78EA-EC38-5711-273EB9164F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86583" y="2383577"/>
              <a:ext cx="5913632" cy="1988992"/>
            </a:xfrm>
            <a:prstGeom prst="rect">
              <a:avLst/>
            </a:prstGeom>
          </p:spPr>
        </p:pic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0316822D-7623-B463-4F59-D828FC135590}"/>
                </a:ext>
              </a:extLst>
            </p:cNvPr>
            <p:cNvSpPr/>
            <p:nvPr/>
          </p:nvSpPr>
          <p:spPr>
            <a:xfrm>
              <a:off x="3797051" y="4059959"/>
              <a:ext cx="306040" cy="27393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76833F5B-A248-26DB-E72F-DC4D4CA37EE4}"/>
                </a:ext>
              </a:extLst>
            </p:cNvPr>
            <p:cNvSpPr/>
            <p:nvPr/>
          </p:nvSpPr>
          <p:spPr>
            <a:xfrm>
              <a:off x="5354842" y="3952673"/>
              <a:ext cx="306040" cy="273939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225EE748-1B69-4F8C-74C5-90A7D4F54503}"/>
                </a:ext>
              </a:extLst>
            </p:cNvPr>
            <p:cNvSpPr/>
            <p:nvPr/>
          </p:nvSpPr>
          <p:spPr>
            <a:xfrm>
              <a:off x="7123101" y="3735620"/>
              <a:ext cx="306040" cy="273939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C90962C6-7B16-71AE-64CC-8C8090880CA3}"/>
                </a:ext>
              </a:extLst>
            </p:cNvPr>
            <p:cNvSpPr/>
            <p:nvPr/>
          </p:nvSpPr>
          <p:spPr>
            <a:xfrm>
              <a:off x="8055574" y="3587219"/>
              <a:ext cx="306040" cy="273939"/>
            </a:xfrm>
            <a:prstGeom prst="ellipse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8C236252-FBEE-4EC0-8229-F9038BCBC04A}"/>
                </a:ext>
              </a:extLst>
            </p:cNvPr>
            <p:cNvSpPr/>
            <p:nvPr/>
          </p:nvSpPr>
          <p:spPr>
            <a:xfrm>
              <a:off x="8924797" y="3724188"/>
              <a:ext cx="306040" cy="273939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Flèche : bas 16">
            <a:extLst>
              <a:ext uri="{FF2B5EF4-FFF2-40B4-BE49-F238E27FC236}">
                <a16:creationId xmlns:a16="http://schemas.microsoft.com/office/drawing/2014/main" id="{2C28D489-9FF9-5F21-EC99-113A693BCBB6}"/>
              </a:ext>
            </a:extLst>
          </p:cNvPr>
          <p:cNvSpPr/>
          <p:nvPr/>
        </p:nvSpPr>
        <p:spPr>
          <a:xfrm>
            <a:off x="2927235" y="2572666"/>
            <a:ext cx="275771" cy="2109410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DAF7D18-20F7-4507-C439-1463D1F85074}"/>
              </a:ext>
            </a:extLst>
          </p:cNvPr>
          <p:cNvSpPr txBox="1"/>
          <p:nvPr/>
        </p:nvSpPr>
        <p:spPr>
          <a:xfrm>
            <a:off x="939901" y="3226259"/>
            <a:ext cx="20707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noProof="0" dirty="0"/>
              <a:t>After applying EARS’ boilerplate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08488E-4870-CDF2-91F7-09B81EED65B9}"/>
              </a:ext>
            </a:extLst>
          </p:cNvPr>
          <p:cNvSpPr/>
          <p:nvPr/>
        </p:nvSpPr>
        <p:spPr>
          <a:xfrm>
            <a:off x="939901" y="682952"/>
            <a:ext cx="10250424" cy="155466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8BF576-6711-577D-4B33-CD05582BF615}"/>
              </a:ext>
            </a:extLst>
          </p:cNvPr>
          <p:cNvSpPr/>
          <p:nvPr/>
        </p:nvSpPr>
        <p:spPr>
          <a:xfrm>
            <a:off x="1225296" y="4743206"/>
            <a:ext cx="10058399" cy="131835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1469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65187-71AF-C7E9-2201-F0D8118B7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diagramme, Plan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71A19D-E55D-C164-F6C2-E581E2363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432" y="150122"/>
            <a:ext cx="9144127" cy="627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52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 descr="Une image contenant texte, capture d’écran, Police, logiciel&#10;&#10;Le contenu généré par l’IA peut être incorrect.">
            <a:extLst>
              <a:ext uri="{FF2B5EF4-FFF2-40B4-BE49-F238E27FC236}">
                <a16:creationId xmlns:a16="http://schemas.microsoft.com/office/drawing/2014/main" id="{8E7AA2D2-3B92-AF3C-6D4E-2C64F045F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8762" y="1561374"/>
            <a:ext cx="4769336" cy="1871223"/>
          </a:xfrm>
          <a:prstGeom prst="rect">
            <a:avLst/>
          </a:prstGeom>
          <a:ln>
            <a:noFill/>
          </a:ln>
          <a:effectLst>
            <a:glow rad="63500">
              <a:srgbClr val="C00000">
                <a:alpha val="40000"/>
              </a:srgbClr>
            </a:glow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Image 14" descr="Une image contenant texte, capture d’écran, Police, logo&#10;&#10;Le contenu généré par l’IA peut être incorrect.">
            <a:extLst>
              <a:ext uri="{FF2B5EF4-FFF2-40B4-BE49-F238E27FC236}">
                <a16:creationId xmlns:a16="http://schemas.microsoft.com/office/drawing/2014/main" id="{48D18BB0-495D-3359-C7FC-183883DE4C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965" y="3475763"/>
            <a:ext cx="4148778" cy="1809920"/>
          </a:xfrm>
          <a:prstGeom prst="rect">
            <a:avLst/>
          </a:prstGeom>
          <a:ln>
            <a:noFill/>
          </a:ln>
          <a:effectLst>
            <a:glow rad="63500">
              <a:srgbClr val="C00000">
                <a:alpha val="40000"/>
              </a:srgbClr>
            </a:glow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9" name="Image 18" descr="Une image contenant capture d’écran, carte, module&#10;&#10;Le contenu généré par l’IA peut être incorrect.">
            <a:extLst>
              <a:ext uri="{FF2B5EF4-FFF2-40B4-BE49-F238E27FC236}">
                <a16:creationId xmlns:a16="http://schemas.microsoft.com/office/drawing/2014/main" id="{24A7732C-3E95-38F3-D104-9994B3148E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201" y="3966269"/>
            <a:ext cx="5303004" cy="2101995"/>
          </a:xfrm>
          <a:prstGeom prst="rect">
            <a:avLst/>
          </a:prstGeom>
          <a:ln>
            <a:noFill/>
          </a:ln>
          <a:effectLst>
            <a:glow rad="63500">
              <a:srgbClr val="FFC000">
                <a:alpha val="40000"/>
              </a:srgbClr>
            </a:glow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1" name="Image 20" descr="Une image contenant texte, capture d’écran, affichage, logiciel&#10;&#10;Le contenu généré par l’IA peut être incorrect.">
            <a:extLst>
              <a:ext uri="{FF2B5EF4-FFF2-40B4-BE49-F238E27FC236}">
                <a16:creationId xmlns:a16="http://schemas.microsoft.com/office/drawing/2014/main" id="{273AC57A-AD0E-8E2B-DA60-217D0E7E4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5887" y="4987903"/>
            <a:ext cx="1972315" cy="1758648"/>
          </a:xfrm>
          <a:prstGeom prst="rect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69445FE3-B9BE-BAB7-880E-B46F27EFAA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862" y="3709594"/>
            <a:ext cx="4477138" cy="400085"/>
          </a:xfrm>
          <a:prstGeom prst="rect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1" name="Ellipse 30">
            <a:extLst>
              <a:ext uri="{FF2B5EF4-FFF2-40B4-BE49-F238E27FC236}">
                <a16:creationId xmlns:a16="http://schemas.microsoft.com/office/drawing/2014/main" id="{98D46051-A22A-1122-427F-54418D16EFDE}"/>
              </a:ext>
            </a:extLst>
          </p:cNvPr>
          <p:cNvSpPr/>
          <p:nvPr/>
        </p:nvSpPr>
        <p:spPr>
          <a:xfrm rot="20704559" flipV="1">
            <a:off x="1044526" y="5296585"/>
            <a:ext cx="1072671" cy="230000"/>
          </a:xfrm>
          <a:prstGeom prst="ellipse">
            <a:avLst/>
          </a:prstGeom>
          <a:noFill/>
          <a:ln w="2857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3E91994-AB2F-D0CD-7ACC-39EA093F36C9}"/>
              </a:ext>
            </a:extLst>
          </p:cNvPr>
          <p:cNvCxnSpPr>
            <a:cxnSpLocks/>
            <a:stCxn id="31" idx="4"/>
          </p:cNvCxnSpPr>
          <p:nvPr/>
        </p:nvCxnSpPr>
        <p:spPr>
          <a:xfrm flipV="1">
            <a:off x="1551245" y="4109679"/>
            <a:ext cx="860620" cy="1190785"/>
          </a:xfrm>
          <a:prstGeom prst="straightConnector1">
            <a:avLst/>
          </a:prstGeom>
          <a:ln w="28575">
            <a:solidFill>
              <a:srgbClr val="0F9E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Ellipse 36">
            <a:extLst>
              <a:ext uri="{FF2B5EF4-FFF2-40B4-BE49-F238E27FC236}">
                <a16:creationId xmlns:a16="http://schemas.microsoft.com/office/drawing/2014/main" id="{3029F631-9504-C184-71BD-9782BA188B2D}"/>
              </a:ext>
            </a:extLst>
          </p:cNvPr>
          <p:cNvSpPr/>
          <p:nvPr/>
        </p:nvSpPr>
        <p:spPr>
          <a:xfrm rot="20704559" flipV="1">
            <a:off x="1302427" y="5537264"/>
            <a:ext cx="672380" cy="553683"/>
          </a:xfrm>
          <a:prstGeom prst="ellipse">
            <a:avLst/>
          </a:prstGeom>
          <a:noFill/>
          <a:ln w="2857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B10008DF-EE82-D72B-782A-AF3A7B5AC75D}"/>
              </a:ext>
            </a:extLst>
          </p:cNvPr>
          <p:cNvCxnSpPr>
            <a:cxnSpLocks/>
            <a:stCxn id="37" idx="7"/>
            <a:endCxn id="21" idx="1"/>
          </p:cNvCxnSpPr>
          <p:nvPr/>
        </p:nvCxnSpPr>
        <p:spPr>
          <a:xfrm flipV="1">
            <a:off x="1918735" y="5867227"/>
            <a:ext cx="1597152" cy="74809"/>
          </a:xfrm>
          <a:prstGeom prst="straightConnector1">
            <a:avLst/>
          </a:prstGeom>
          <a:ln w="28575">
            <a:solidFill>
              <a:srgbClr val="0F9E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DC16C9F7-E5EC-2DB4-4CA5-D7E7D98B6ABF}"/>
              </a:ext>
            </a:extLst>
          </p:cNvPr>
          <p:cNvGrpSpPr/>
          <p:nvPr/>
        </p:nvGrpSpPr>
        <p:grpSpPr>
          <a:xfrm>
            <a:off x="182854" y="134421"/>
            <a:ext cx="6260620" cy="3043042"/>
            <a:chOff x="182854" y="231182"/>
            <a:chExt cx="6260620" cy="3043042"/>
          </a:xfrm>
        </p:grpSpPr>
        <p:grpSp>
          <p:nvGrpSpPr>
            <p:cNvPr id="24" name="Groupe 23">
              <a:extLst>
                <a:ext uri="{FF2B5EF4-FFF2-40B4-BE49-F238E27FC236}">
                  <a16:creationId xmlns:a16="http://schemas.microsoft.com/office/drawing/2014/main" id="{E9E8C4D4-6C3C-1A1B-0855-F824E472007B}"/>
                </a:ext>
              </a:extLst>
            </p:cNvPr>
            <p:cNvGrpSpPr/>
            <p:nvPr/>
          </p:nvGrpSpPr>
          <p:grpSpPr>
            <a:xfrm>
              <a:off x="182854" y="231182"/>
              <a:ext cx="6250944" cy="3043042"/>
              <a:chOff x="182854" y="231182"/>
              <a:chExt cx="6250944" cy="3043042"/>
            </a:xfrm>
          </p:grpSpPr>
          <p:pic>
            <p:nvPicPr>
              <p:cNvPr id="7" name="Image 6" descr="Une image contenant texte, capture d’écran, logiciel, Logiciel multimédia&#10;&#10;Le contenu généré par l’IA peut être incorrect.">
                <a:extLst>
                  <a:ext uri="{FF2B5EF4-FFF2-40B4-BE49-F238E27FC236}">
                    <a16:creationId xmlns:a16="http://schemas.microsoft.com/office/drawing/2014/main" id="{8BF13A8C-613B-D07B-C120-11C136641A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2854" y="231182"/>
                <a:ext cx="6250944" cy="2698402"/>
              </a:xfrm>
              <a:prstGeom prst="rect">
                <a:avLst/>
              </a:prstGeom>
              <a:ln>
                <a:noFill/>
              </a:ln>
              <a:effectLst>
                <a:glow rad="63500">
                  <a:srgbClr val="FFC000">
                    <a:alpha val="40000"/>
                  </a:srgbClr>
                </a:glow>
                <a:outerShdw blurRad="190500" algn="tl" rotWithShape="0">
                  <a:srgbClr val="000000">
                    <a:alpha val="70000"/>
                  </a:srgbClr>
                </a:outerShdw>
              </a:effectLst>
            </p:spPr>
          </p:pic>
          <p:pic>
            <p:nvPicPr>
              <p:cNvPr id="9" name="Image 8" descr="Une image contenant texte, capture d’écran, Police, conception&#10;&#10;Le contenu généré par l’IA peut être incorrect.">
                <a:extLst>
                  <a:ext uri="{FF2B5EF4-FFF2-40B4-BE49-F238E27FC236}">
                    <a16:creationId xmlns:a16="http://schemas.microsoft.com/office/drawing/2014/main" id="{735673BB-83EC-51B2-922F-45179D7E9C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874758" y="1882988"/>
                <a:ext cx="1785234" cy="1391236"/>
              </a:xfrm>
              <a:prstGeom prst="rect">
                <a:avLst/>
              </a:prstGeom>
              <a:ln>
                <a:noFill/>
              </a:ln>
              <a:effectLst>
                <a:glow rad="63500">
                  <a:schemeClr val="accent4">
                    <a:satMod val="175000"/>
                    <a:alpha val="40000"/>
                  </a:schemeClr>
                </a:glow>
                <a:outerShdw blurRad="190500" algn="tl" rotWithShape="0">
                  <a:srgbClr val="000000">
                    <a:alpha val="70000"/>
                  </a:srgbClr>
                </a:outerShdw>
              </a:effectLst>
            </p:spPr>
          </p:pic>
        </p:grpSp>
        <p:pic>
          <p:nvPicPr>
            <p:cNvPr id="43" name="Image 42" descr="Une image contenant texte, capture d’écran, Police, nombre&#10;&#10;Le contenu généré par l’IA peut être incorrect.">
              <a:extLst>
                <a:ext uri="{FF2B5EF4-FFF2-40B4-BE49-F238E27FC236}">
                  <a16:creationId xmlns:a16="http://schemas.microsoft.com/office/drawing/2014/main" id="{299FE722-AF50-B987-2322-211B62CB2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10564" y="1161399"/>
              <a:ext cx="1732910" cy="2024860"/>
            </a:xfrm>
            <a:prstGeom prst="rect">
              <a:avLst/>
            </a:prstGeom>
            <a:ln>
              <a:noFill/>
            </a:ln>
            <a:effectLst>
              <a:glow rad="63500">
                <a:schemeClr val="accent4">
                  <a:satMod val="175000"/>
                  <a:alpha val="40000"/>
                </a:schemeClr>
              </a:glow>
              <a:outerShdw blurRad="190500" algn="tl" rotWithShape="0">
                <a:srgbClr val="000000">
                  <a:alpha val="70000"/>
                </a:srgbClr>
              </a:outerShdw>
            </a:effectLst>
          </p:spPr>
        </p:pic>
      </p:grp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CC90A6A-5E0A-A7F8-1637-B569DCF7B5F5}"/>
              </a:ext>
            </a:extLst>
          </p:cNvPr>
          <p:cNvGrpSpPr/>
          <p:nvPr/>
        </p:nvGrpSpPr>
        <p:grpSpPr>
          <a:xfrm>
            <a:off x="140304" y="161334"/>
            <a:ext cx="1991522" cy="2105246"/>
            <a:chOff x="140304" y="258095"/>
            <a:chExt cx="1991522" cy="2105246"/>
          </a:xfrm>
        </p:grpSpPr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8C4BCF51-EBC7-7690-BF81-09664954F19E}"/>
                </a:ext>
              </a:extLst>
            </p:cNvPr>
            <p:cNvGrpSpPr/>
            <p:nvPr/>
          </p:nvGrpSpPr>
          <p:grpSpPr>
            <a:xfrm>
              <a:off x="140304" y="258095"/>
              <a:ext cx="1475619" cy="1565867"/>
              <a:chOff x="140304" y="258095"/>
              <a:chExt cx="1475619" cy="1565867"/>
            </a:xfrm>
          </p:grpSpPr>
          <p:sp>
            <p:nvSpPr>
              <p:cNvPr id="25" name="Ellipse 24">
                <a:extLst>
                  <a:ext uri="{FF2B5EF4-FFF2-40B4-BE49-F238E27FC236}">
                    <a16:creationId xmlns:a16="http://schemas.microsoft.com/office/drawing/2014/main" id="{DC45352D-22BF-37C2-07CA-958A66DF24CC}"/>
                  </a:ext>
                </a:extLst>
              </p:cNvPr>
              <p:cNvSpPr/>
              <p:nvPr/>
            </p:nvSpPr>
            <p:spPr>
              <a:xfrm>
                <a:off x="140304" y="258095"/>
                <a:ext cx="1475619" cy="864344"/>
              </a:xfrm>
              <a:prstGeom prst="ellipse">
                <a:avLst/>
              </a:prstGeom>
              <a:noFill/>
              <a:ln w="28575" cap="flat" cmpd="sng" algn="ctr">
                <a:solidFill>
                  <a:schemeClr val="accent4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4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27" name="Connecteur droit avec flèche 26">
                <a:extLst>
                  <a:ext uri="{FF2B5EF4-FFF2-40B4-BE49-F238E27FC236}">
                    <a16:creationId xmlns:a16="http://schemas.microsoft.com/office/drawing/2014/main" id="{0B2E76E8-982B-EA58-FB41-9A14A209AE1C}"/>
                  </a:ext>
                </a:extLst>
              </p:cNvPr>
              <p:cNvCxnSpPr/>
              <p:nvPr/>
            </p:nvCxnSpPr>
            <p:spPr>
              <a:xfrm>
                <a:off x="878113" y="1122439"/>
                <a:ext cx="0" cy="701523"/>
              </a:xfrm>
              <a:prstGeom prst="straightConnector1">
                <a:avLst/>
              </a:prstGeom>
              <a:ln w="28575">
                <a:solidFill>
                  <a:srgbClr val="0F9ED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C1FA3043-A4E7-3E14-C31C-29EE057C1175}"/>
                </a:ext>
              </a:extLst>
            </p:cNvPr>
            <p:cNvSpPr txBox="1"/>
            <p:nvPr/>
          </p:nvSpPr>
          <p:spPr>
            <a:xfrm>
              <a:off x="346593" y="1840121"/>
              <a:ext cx="178523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noProof="0" dirty="0">
                  <a:solidFill>
                    <a:srgbClr val="0F9ED5"/>
                  </a:solidFill>
                </a:rPr>
                <a:t>Agent commanding the type of input</a:t>
              </a:r>
            </a:p>
          </p:txBody>
        </p:sp>
      </p:grpSp>
      <p:sp>
        <p:nvSpPr>
          <p:cNvPr id="47" name="Ellipse 46">
            <a:extLst>
              <a:ext uri="{FF2B5EF4-FFF2-40B4-BE49-F238E27FC236}">
                <a16:creationId xmlns:a16="http://schemas.microsoft.com/office/drawing/2014/main" id="{C2E49673-0BE2-9541-536C-82ECA8A1FCA1}"/>
              </a:ext>
            </a:extLst>
          </p:cNvPr>
          <p:cNvSpPr/>
          <p:nvPr/>
        </p:nvSpPr>
        <p:spPr>
          <a:xfrm flipV="1">
            <a:off x="1973944" y="420913"/>
            <a:ext cx="2530324" cy="878759"/>
          </a:xfrm>
          <a:prstGeom prst="ellipse">
            <a:avLst/>
          </a:prstGeom>
          <a:noFill/>
          <a:ln w="2857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CAD77020-01B8-5D38-F694-2742896F1B4B}"/>
              </a:ext>
            </a:extLst>
          </p:cNvPr>
          <p:cNvSpPr/>
          <p:nvPr/>
        </p:nvSpPr>
        <p:spPr>
          <a:xfrm flipV="1">
            <a:off x="1805593" y="299958"/>
            <a:ext cx="2790597" cy="1125897"/>
          </a:xfrm>
          <a:prstGeom prst="ellipse">
            <a:avLst/>
          </a:prstGeom>
          <a:noFill/>
          <a:ln w="28575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09931F23-BE54-89E0-6910-084B2160E0D6}"/>
              </a:ext>
            </a:extLst>
          </p:cNvPr>
          <p:cNvCxnSpPr>
            <a:cxnSpLocks/>
            <a:stCxn id="120" idx="6"/>
            <a:endCxn id="108" idx="1"/>
          </p:cNvCxnSpPr>
          <p:nvPr/>
        </p:nvCxnSpPr>
        <p:spPr>
          <a:xfrm flipV="1">
            <a:off x="4753113" y="798209"/>
            <a:ext cx="2617840" cy="57895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Ellipse 67">
            <a:extLst>
              <a:ext uri="{FF2B5EF4-FFF2-40B4-BE49-F238E27FC236}">
                <a16:creationId xmlns:a16="http://schemas.microsoft.com/office/drawing/2014/main" id="{1016071D-9F53-7911-CA28-7164A9E79B00}"/>
              </a:ext>
            </a:extLst>
          </p:cNvPr>
          <p:cNvSpPr/>
          <p:nvPr/>
        </p:nvSpPr>
        <p:spPr>
          <a:xfrm flipV="1">
            <a:off x="8086580" y="2633518"/>
            <a:ext cx="1924072" cy="341437"/>
          </a:xfrm>
          <a:prstGeom prst="ellipse">
            <a:avLst/>
          </a:prstGeom>
          <a:noFill/>
          <a:ln w="28575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1AAA7B50-38C3-9C99-9DD4-A21B81AE2A00}"/>
              </a:ext>
            </a:extLst>
          </p:cNvPr>
          <p:cNvCxnSpPr>
            <a:cxnSpLocks/>
            <a:stCxn id="68" idx="2"/>
            <a:endCxn id="19" idx="3"/>
          </p:cNvCxnSpPr>
          <p:nvPr/>
        </p:nvCxnSpPr>
        <p:spPr>
          <a:xfrm flipH="1">
            <a:off x="5768205" y="2804236"/>
            <a:ext cx="2318375" cy="2213031"/>
          </a:xfrm>
          <a:prstGeom prst="straightConnector1">
            <a:avLst/>
          </a:prstGeom>
          <a:ln w="2857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Ellipse 74">
            <a:extLst>
              <a:ext uri="{FF2B5EF4-FFF2-40B4-BE49-F238E27FC236}">
                <a16:creationId xmlns:a16="http://schemas.microsoft.com/office/drawing/2014/main" id="{C5DF8A31-9624-DCA2-51C3-4FAE6F5D8C9A}"/>
              </a:ext>
            </a:extLst>
          </p:cNvPr>
          <p:cNvSpPr/>
          <p:nvPr/>
        </p:nvSpPr>
        <p:spPr>
          <a:xfrm flipV="1">
            <a:off x="8162841" y="2904144"/>
            <a:ext cx="1924072" cy="217717"/>
          </a:xfrm>
          <a:prstGeom prst="ellipse">
            <a:avLst/>
          </a:prstGeom>
          <a:noFill/>
          <a:ln w="28575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0010D6A7-E98F-24C1-A31E-5EBC361AFF27}"/>
              </a:ext>
            </a:extLst>
          </p:cNvPr>
          <p:cNvSpPr txBox="1"/>
          <p:nvPr/>
        </p:nvSpPr>
        <p:spPr>
          <a:xfrm>
            <a:off x="7805356" y="2316393"/>
            <a:ext cx="43428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noProof="0" dirty="0">
                <a:solidFill>
                  <a:srgbClr val="FFC000"/>
                </a:solidFill>
              </a:rPr>
              <a:t>PlantSimulatio</a:t>
            </a:r>
            <a:r>
              <a:rPr lang="en-US" sz="1400" b="1" dirty="0">
                <a:solidFill>
                  <a:srgbClr val="FFC000"/>
                </a:solidFill>
              </a:rPr>
              <a:t>n M&amp;S Client (SUBSCRIBER)</a:t>
            </a:r>
            <a:endParaRPr lang="en-US" sz="1400" b="1" noProof="0" dirty="0">
              <a:solidFill>
                <a:srgbClr val="FFC000"/>
              </a:solidFill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F424D302-80E5-82C6-3C01-E8BF22F90192}"/>
              </a:ext>
            </a:extLst>
          </p:cNvPr>
          <p:cNvSpPr txBox="1"/>
          <p:nvPr/>
        </p:nvSpPr>
        <p:spPr>
          <a:xfrm>
            <a:off x="7737455" y="3065357"/>
            <a:ext cx="45463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noProof="0" dirty="0">
                <a:solidFill>
                  <a:srgbClr val="FFC000"/>
                </a:solidFill>
              </a:rPr>
              <a:t>Ingescape Agent </a:t>
            </a:r>
            <a:r>
              <a:rPr lang="en-US" sz="1400" b="1" dirty="0">
                <a:solidFill>
                  <a:srgbClr val="FFC000"/>
                </a:solidFill>
              </a:rPr>
              <a:t>Client (SUBSCRIBER &amp; PUBLISHER)</a:t>
            </a:r>
            <a:endParaRPr lang="en-US" sz="1400" b="1" noProof="0" dirty="0">
              <a:solidFill>
                <a:srgbClr val="FFC000"/>
              </a:solidFill>
            </a:endParaRPr>
          </a:p>
        </p:txBody>
      </p: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540A31F2-8053-DC9B-095A-2EF448AC5CAC}"/>
              </a:ext>
            </a:extLst>
          </p:cNvPr>
          <p:cNvGrpSpPr/>
          <p:nvPr/>
        </p:nvGrpSpPr>
        <p:grpSpPr>
          <a:xfrm>
            <a:off x="8929913" y="4546428"/>
            <a:ext cx="2796886" cy="1694035"/>
            <a:chOff x="105587" y="258095"/>
            <a:chExt cx="1988731" cy="1905898"/>
          </a:xfrm>
        </p:grpSpPr>
        <p:grpSp>
          <p:nvGrpSpPr>
            <p:cNvPr id="93" name="Groupe 92">
              <a:extLst>
                <a:ext uri="{FF2B5EF4-FFF2-40B4-BE49-F238E27FC236}">
                  <a16:creationId xmlns:a16="http://schemas.microsoft.com/office/drawing/2014/main" id="{C9F4C9AC-9E43-C0D1-3FBF-CB0B5ABC4CDB}"/>
                </a:ext>
              </a:extLst>
            </p:cNvPr>
            <p:cNvGrpSpPr/>
            <p:nvPr/>
          </p:nvGrpSpPr>
          <p:grpSpPr>
            <a:xfrm>
              <a:off x="140304" y="258095"/>
              <a:ext cx="1475619" cy="1317242"/>
              <a:chOff x="140304" y="258095"/>
              <a:chExt cx="1475619" cy="1317242"/>
            </a:xfrm>
          </p:grpSpPr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573E6273-ECA4-2CC5-E45A-C6D8869B4500}"/>
                  </a:ext>
                </a:extLst>
              </p:cNvPr>
              <p:cNvSpPr/>
              <p:nvPr/>
            </p:nvSpPr>
            <p:spPr>
              <a:xfrm>
                <a:off x="140304" y="258095"/>
                <a:ext cx="1475619" cy="615719"/>
              </a:xfrm>
              <a:prstGeom prst="ellipse">
                <a:avLst/>
              </a:prstGeom>
              <a:noFill/>
              <a:ln w="28575" cap="flat" cmpd="sng" algn="ctr">
                <a:solidFill>
                  <a:schemeClr val="accent4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4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96" name="Connecteur droit avec flèche 95">
                <a:extLst>
                  <a:ext uri="{FF2B5EF4-FFF2-40B4-BE49-F238E27FC236}">
                    <a16:creationId xmlns:a16="http://schemas.microsoft.com/office/drawing/2014/main" id="{E2679E8E-2FF4-4924-359E-524703BFFC3B}"/>
                  </a:ext>
                </a:extLst>
              </p:cNvPr>
              <p:cNvCxnSpPr/>
              <p:nvPr/>
            </p:nvCxnSpPr>
            <p:spPr>
              <a:xfrm>
                <a:off x="895314" y="873814"/>
                <a:ext cx="0" cy="701523"/>
              </a:xfrm>
              <a:prstGeom prst="straightConnector1">
                <a:avLst/>
              </a:prstGeom>
              <a:ln w="28575">
                <a:solidFill>
                  <a:srgbClr val="0F9ED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ZoneTexte 93">
              <a:extLst>
                <a:ext uri="{FF2B5EF4-FFF2-40B4-BE49-F238E27FC236}">
                  <a16:creationId xmlns:a16="http://schemas.microsoft.com/office/drawing/2014/main" id="{8630F6C5-80F7-CDE2-5A67-5C0A526CA7B9}"/>
                </a:ext>
              </a:extLst>
            </p:cNvPr>
            <p:cNvSpPr txBox="1"/>
            <p:nvPr/>
          </p:nvSpPr>
          <p:spPr>
            <a:xfrm>
              <a:off x="105587" y="1575337"/>
              <a:ext cx="1988731" cy="588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noProof="0" dirty="0">
                  <a:solidFill>
                    <a:srgbClr val="0F9ED5"/>
                  </a:solidFill>
                </a:rPr>
                <a:t>Topic of subscription of all the agents</a:t>
              </a:r>
            </a:p>
          </p:txBody>
        </p:sp>
      </p:grpSp>
      <p:sp>
        <p:nvSpPr>
          <p:cNvPr id="120" name="Ellipse 119">
            <a:extLst>
              <a:ext uri="{FF2B5EF4-FFF2-40B4-BE49-F238E27FC236}">
                <a16:creationId xmlns:a16="http://schemas.microsoft.com/office/drawing/2014/main" id="{00D65DF1-560C-1054-AF47-D0D8E97C95F4}"/>
              </a:ext>
            </a:extLst>
          </p:cNvPr>
          <p:cNvSpPr/>
          <p:nvPr/>
        </p:nvSpPr>
        <p:spPr>
          <a:xfrm flipV="1">
            <a:off x="1666495" y="201438"/>
            <a:ext cx="3086618" cy="1309332"/>
          </a:xfrm>
          <a:prstGeom prst="ellipse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29" name="Image 128" descr="Une image contenant Police, texte, Graphique, logo&#10;&#10;Le contenu généré par l’IA peut être incorrect.">
            <a:extLst>
              <a:ext uri="{FF2B5EF4-FFF2-40B4-BE49-F238E27FC236}">
                <a16:creationId xmlns:a16="http://schemas.microsoft.com/office/drawing/2014/main" id="{65DDC9B4-A545-7FE9-DE66-4C449AA2D0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2008" y="2659584"/>
            <a:ext cx="1497356" cy="444271"/>
          </a:xfrm>
          <a:prstGeom prst="rect">
            <a:avLst/>
          </a:prstGeom>
          <a:ln>
            <a:noFill/>
          </a:ln>
          <a:effectLst>
            <a:glow rad="63500">
              <a:srgbClr val="FFC000">
                <a:alpha val="40000"/>
              </a:srgbClr>
            </a:glow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1" name="Image 130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E923D052-DCA2-A3CA-0E00-EEA792032EF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7795" y="6032009"/>
            <a:ext cx="954652" cy="479942"/>
          </a:xfrm>
          <a:prstGeom prst="rect">
            <a:avLst/>
          </a:prstGeom>
          <a:ln>
            <a:noFill/>
          </a:ln>
          <a:effectLst>
            <a:glow rad="63500">
              <a:srgbClr val="FFC000">
                <a:alpha val="40000"/>
              </a:srgbClr>
            </a:glow>
            <a:outerShdw blurRad="190500" algn="tl" rotWithShape="0">
              <a:srgbClr val="000000">
                <a:alpha val="70000"/>
              </a:srgbClr>
            </a:outerShdw>
          </a:effectLst>
        </p:spPr>
      </p:pic>
      <p:grpSp>
        <p:nvGrpSpPr>
          <p:cNvPr id="139" name="Groupe 138">
            <a:extLst>
              <a:ext uri="{FF2B5EF4-FFF2-40B4-BE49-F238E27FC236}">
                <a16:creationId xmlns:a16="http://schemas.microsoft.com/office/drawing/2014/main" id="{A6EB14F3-E6B0-A88F-A894-9A68C4B16954}"/>
              </a:ext>
            </a:extLst>
          </p:cNvPr>
          <p:cNvGrpSpPr/>
          <p:nvPr/>
        </p:nvGrpSpPr>
        <p:grpSpPr>
          <a:xfrm>
            <a:off x="7370953" y="80244"/>
            <a:ext cx="4743507" cy="1435929"/>
            <a:chOff x="7129057" y="162743"/>
            <a:chExt cx="4604440" cy="1435929"/>
          </a:xfrm>
        </p:grpSpPr>
        <p:pic>
          <p:nvPicPr>
            <p:cNvPr id="108" name="Image 107" descr="Une image contenant texte, capture d’écran, Police, logo&#10;&#10;Le contenu généré par l’IA peut être incorrect.">
              <a:extLst>
                <a:ext uri="{FF2B5EF4-FFF2-40B4-BE49-F238E27FC236}">
                  <a16:creationId xmlns:a16="http://schemas.microsoft.com/office/drawing/2014/main" id="{277EFE6B-1F0F-C5AA-BEC1-F00716224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129057" y="162743"/>
              <a:ext cx="2012324" cy="1435929"/>
            </a:xfrm>
            <a:prstGeom prst="rect">
              <a:avLst/>
            </a:prstGeom>
            <a:ln>
              <a:noFill/>
            </a:ln>
            <a:effectLst>
              <a:glow rad="63500">
                <a:srgbClr val="C00000">
                  <a:alpha val="40000"/>
                </a:srgbClr>
              </a:glow>
              <a:outerShdw blurRad="190500" algn="tl" rotWithShape="0">
                <a:srgbClr val="000000">
                  <a:alpha val="70000"/>
                </a:srgbClr>
              </a:outerShdw>
            </a:effectLst>
          </p:spPr>
        </p:pic>
        <p:pic>
          <p:nvPicPr>
            <p:cNvPr id="136" name="Image 135" descr="Une image contenant texte, Police, capture d’écran, noir&#10;&#10;Le contenu généré par l’IA peut être incorrect.">
              <a:extLst>
                <a:ext uri="{FF2B5EF4-FFF2-40B4-BE49-F238E27FC236}">
                  <a16:creationId xmlns:a16="http://schemas.microsoft.com/office/drawing/2014/main" id="{85CC6BEC-F1C5-FF3E-A87E-6DEFF311B2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815360" y="465777"/>
              <a:ext cx="2918137" cy="656662"/>
            </a:xfrm>
            <a:prstGeom prst="rect">
              <a:avLst/>
            </a:prstGeom>
            <a:ln>
              <a:noFill/>
            </a:ln>
            <a:effectLst>
              <a:glow rad="63500">
                <a:srgbClr val="C00000">
                  <a:alpha val="40000"/>
                </a:srgbClr>
              </a:glow>
              <a:outerShdw blurRad="190500" algn="tl" rotWithShape="0">
                <a:srgbClr val="000000">
                  <a:alpha val="70000"/>
                </a:srgbClr>
              </a:outerShdw>
            </a:effectLst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990692D8-0FFB-4E10-8533-06CE9B4A84C4}"/>
              </a:ext>
            </a:extLst>
          </p:cNvPr>
          <p:cNvSpPr txBox="1"/>
          <p:nvPr/>
        </p:nvSpPr>
        <p:spPr>
          <a:xfrm>
            <a:off x="5786945" y="499937"/>
            <a:ext cx="1785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C00000"/>
                </a:solidFill>
              </a:rPr>
              <a:t>Encapsulates</a:t>
            </a:r>
          </a:p>
        </p:txBody>
      </p: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FC5F5521-09FD-8909-283F-5EBB9C9E718A}"/>
              </a:ext>
            </a:extLst>
          </p:cNvPr>
          <p:cNvCxnSpPr>
            <a:cxnSpLocks/>
          </p:cNvCxnSpPr>
          <p:nvPr/>
        </p:nvCxnSpPr>
        <p:spPr>
          <a:xfrm>
            <a:off x="3239105" y="1281097"/>
            <a:ext cx="528269" cy="486555"/>
          </a:xfrm>
          <a:prstGeom prst="straightConnector1">
            <a:avLst/>
          </a:prstGeom>
          <a:ln w="28575">
            <a:solidFill>
              <a:srgbClr val="0F9E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50D72F8C-E90A-D9A8-E214-75BDC4730189}"/>
              </a:ext>
            </a:extLst>
          </p:cNvPr>
          <p:cNvCxnSpPr>
            <a:cxnSpLocks/>
            <a:stCxn id="47" idx="0"/>
            <a:endCxn id="43" idx="1"/>
          </p:cNvCxnSpPr>
          <p:nvPr/>
        </p:nvCxnSpPr>
        <p:spPr>
          <a:xfrm>
            <a:off x="3239106" y="1299672"/>
            <a:ext cx="1471458" cy="777396"/>
          </a:xfrm>
          <a:prstGeom prst="straightConnector1">
            <a:avLst/>
          </a:prstGeom>
          <a:ln w="28575">
            <a:solidFill>
              <a:srgbClr val="0F9E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D6FEBFD6-0AAB-CA00-559A-179F656E25BC}"/>
              </a:ext>
            </a:extLst>
          </p:cNvPr>
          <p:cNvCxnSpPr>
            <a:cxnSpLocks/>
            <a:stCxn id="75" idx="2"/>
            <a:endCxn id="62" idx="7"/>
          </p:cNvCxnSpPr>
          <p:nvPr/>
        </p:nvCxnSpPr>
        <p:spPr>
          <a:xfrm flipH="1" flipV="1">
            <a:off x="4187517" y="1260971"/>
            <a:ext cx="3975324" cy="1752031"/>
          </a:xfrm>
          <a:prstGeom prst="straightConnector1">
            <a:avLst/>
          </a:prstGeom>
          <a:ln w="2857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18983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587</TotalTime>
  <Words>407</Words>
  <Application>Microsoft Office PowerPoint</Application>
  <PresentationFormat>Grand écran</PresentationFormat>
  <Paragraphs>28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Rindra MBOLAMANANAMALALA</dc:creator>
  <cp:lastModifiedBy>Rindra MBOLAMANANAMALALA</cp:lastModifiedBy>
  <cp:revision>20</cp:revision>
  <dcterms:created xsi:type="dcterms:W3CDTF">2026-01-26T16:10:14Z</dcterms:created>
  <dcterms:modified xsi:type="dcterms:W3CDTF">2026-01-28T16:46:18Z</dcterms:modified>
</cp:coreProperties>
</file>