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7030A0"/>
    <a:srgbClr val="00B050"/>
    <a:srgbClr val="C00000"/>
    <a:srgbClr val="156082"/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087BA-F39E-238C-ACBC-A3EA5012A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9EEDBE-03CF-3CD9-6920-7C6F0079D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F4F070-A4DA-5AEB-AA19-87DD5BA6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52E377-ED20-06F3-34B1-BEF69436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2BB768-7F31-4950-7361-5F7A8EAA0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09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D87CBD-AC60-0B49-F7A1-9E5DDB8D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07E329-058B-7AA6-289D-73B42B36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2616B3-161B-B8E2-63C4-F1F6977D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417BFD-C14F-49BD-51F5-8B8524B13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311CF5-68A0-A6DD-96C6-2D04D610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52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5415D-4C31-BD6C-155D-FCB85F0C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62CF6D-E415-541B-2DE4-313BEC910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16D0DE-E224-96C3-905E-302DEE1E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9954AB-3421-D07B-5434-07C240D6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8A2A63-18A5-4765-1A50-EAA032EB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872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D10B1-84A1-B293-94D4-BCDC80B3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E702BA-E59C-F16C-E6F8-7720E0E4A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6E7BD4-BBE2-26BB-6E93-C8EFD0457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648276-B1E2-F6D4-E4ED-C03BFA9C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52A330-1C24-B7A1-35DA-2432BE5C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A8AC2A-57F5-B57E-3A3A-6130BFFB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68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F1D5F-E9E8-F398-3207-D307BE86B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1566C8-4F95-06BE-AEDD-397376EE9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75193-71D8-1855-9D8E-02495F0A9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313AA8-B77E-7291-9670-428E6C434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1CED02E-6011-0B9F-4F40-3B1F55527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ECDA222-AAAB-2E13-C343-5259A9F5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4C58DC3-3AC7-F72F-C69F-B2145B47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18FABD1-A386-ADBB-729D-FC7645CF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72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89C181-9094-4387-03DE-89F1C4089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BCC44A0-EFBA-B36D-0966-1E56DD0F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491FC6-B24D-4473-79B5-E8A13842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9C8DB8-7238-FF7C-1B3C-DCE48B84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769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16ED28F-137A-38BB-7060-2E341549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D649BD9-3BB1-B855-1FF1-521584E77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C1EA67-FE13-AA3B-D926-383AFBC5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0A72A7-A8DC-4F97-2ECE-1AADA01E3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2FF044-7C7A-E2CF-7897-6024C978A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6679C9-66E3-3B8E-AC2A-69736548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D23076-9DD7-8E07-B869-73BD156D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A9A7CA-BB76-9704-9271-CCFCFFD6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9FC4C6-0238-FB34-34F2-B205832B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94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1FF81D-0AEE-D42A-211C-AA5F0486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6942985-AF63-E852-0B46-CDEE09A1A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E604C3-08AA-3548-6CC1-DCA8DAEA4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1B02DE-CF4F-B420-B452-0AB748F9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B1D2C7-3AC0-F2F5-B711-7F165B887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E64C43-2098-8F33-C4FE-48078CBA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125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60B60-D65A-A9B1-CF70-2AD057DF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935B7F-CB64-1E80-9023-A7241ED21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3F46DC-FBAD-9D94-466A-284F2E11D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CF466A-5C27-1EFA-7DC0-8D1A3415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4D3A5E-B5F5-A7EF-56DA-DE4BAC2E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612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024A528-91C2-4F8D-2C8D-B5A04FA73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05D7DE-F254-4CB0-B1E0-9ACF2AD62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A0A9B-F2C6-57D1-3DA1-4E6A95B79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FB079D-550C-BF33-2270-795EA2E0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997D25-2745-09B7-3D50-15BC9D6D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0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BC3E9F4-DF6A-A713-8DBD-BB73DD44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C09B5E-D308-DB81-C383-A298C7BD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F7B32-6B8D-CD94-8D8A-A8040004D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C27BA-B253-496D-A458-8E48DAC590A4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E0F51E-861B-EA79-174B-40FB04403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A66F36-0676-B08D-0777-D83E9E5D4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10745-F3B7-4036-8BD5-85BF5C63AD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9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18CFE006-38B0-0594-D2B4-30A17BE8AC6F}"/>
              </a:ext>
            </a:extLst>
          </p:cNvPr>
          <p:cNvSpPr txBox="1"/>
          <p:nvPr/>
        </p:nvSpPr>
        <p:spPr>
          <a:xfrm>
            <a:off x="653144" y="1232263"/>
            <a:ext cx="11442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Functional</a:t>
            </a:r>
            <a:r>
              <a:rPr lang="fr-FR" b="1" dirty="0"/>
              <a:t> </a:t>
            </a:r>
            <a:r>
              <a:rPr lang="fr-FR" b="1" dirty="0" err="1"/>
              <a:t>Stakeholder’s</a:t>
            </a:r>
            <a:r>
              <a:rPr lang="fr-FR" b="1" dirty="0"/>
              <a:t> </a:t>
            </a:r>
            <a:r>
              <a:rPr lang="fr-FR" b="1" dirty="0" err="1"/>
              <a:t>requirement</a:t>
            </a:r>
            <a:r>
              <a:rPr lang="fr-FR" b="1" dirty="0"/>
              <a:t> (</a:t>
            </a:r>
            <a:r>
              <a:rPr lang="fr-FR" b="1" dirty="0" err="1"/>
              <a:t>need</a:t>
            </a:r>
            <a:r>
              <a:rPr lang="fr-FR" b="1" dirty="0"/>
              <a:t>):</a:t>
            </a:r>
          </a:p>
          <a:p>
            <a:r>
              <a:rPr lang="fr-FR" dirty="0"/>
              <a:t>«  </a:t>
            </a:r>
            <a:r>
              <a:rPr lang="en-US" dirty="0"/>
              <a:t>BF001- The user wants the Workshop A’s DTS to simulate a scenario of machines allocation which he/she provides</a:t>
            </a:r>
            <a:r>
              <a:rPr lang="fr-FR" dirty="0"/>
              <a:t> 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D8DE0CB-12FD-6B63-7D2B-EC0D57079368}"/>
              </a:ext>
            </a:extLst>
          </p:cNvPr>
          <p:cNvSpPr txBox="1"/>
          <p:nvPr/>
        </p:nvSpPr>
        <p:spPr>
          <a:xfrm>
            <a:off x="822352" y="4682821"/>
            <a:ext cx="11442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Functional</a:t>
            </a:r>
            <a:r>
              <a:rPr lang="fr-FR" b="1" dirty="0"/>
              <a:t> DTS </a:t>
            </a:r>
            <a:r>
              <a:rPr lang="fr-FR" b="1" dirty="0" err="1"/>
              <a:t>requirement</a:t>
            </a:r>
            <a:r>
              <a:rPr lang="fr-FR" b="1" dirty="0"/>
              <a:t> :</a:t>
            </a:r>
          </a:p>
          <a:p>
            <a:r>
              <a:rPr lang="fr-FR" dirty="0"/>
              <a:t>« </a:t>
            </a:r>
            <a:r>
              <a:rPr lang="en-US" dirty="0"/>
              <a:t>EF001 – </a:t>
            </a:r>
            <a:r>
              <a:rPr lang="en-US" b="1" dirty="0">
                <a:solidFill>
                  <a:schemeClr val="accent1"/>
                </a:solidFill>
              </a:rPr>
              <a:t>When a user provides a scenario of machines allocations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</a:rPr>
              <a:t>the Workshop A’s DTS</a:t>
            </a:r>
            <a:r>
              <a:rPr lang="en-US" b="1" dirty="0"/>
              <a:t> </a:t>
            </a:r>
            <a:r>
              <a:rPr lang="en-US" b="1" dirty="0">
                <a:solidFill>
                  <a:srgbClr val="00B050"/>
                </a:solidFill>
              </a:rPr>
              <a:t>shall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5"/>
                </a:solidFill>
              </a:rPr>
              <a:t>be able to simulate </a:t>
            </a:r>
            <a:r>
              <a:rPr lang="en-US" b="1" dirty="0">
                <a:solidFill>
                  <a:srgbClr val="E97132"/>
                </a:solidFill>
              </a:rPr>
              <a:t>it</a:t>
            </a:r>
            <a:r>
              <a:rPr lang="fr-FR" dirty="0"/>
              <a:t>»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6D89EBE2-F1D5-E7D0-FFAA-6183AD11451F}"/>
              </a:ext>
            </a:extLst>
          </p:cNvPr>
          <p:cNvGrpSpPr/>
          <p:nvPr/>
        </p:nvGrpSpPr>
        <p:grpSpPr>
          <a:xfrm>
            <a:off x="3584903" y="2430277"/>
            <a:ext cx="6309002" cy="2109410"/>
            <a:chOff x="2659153" y="3688017"/>
            <a:chExt cx="5685013" cy="1750970"/>
          </a:xfrm>
        </p:grpSpPr>
        <p:pic>
          <p:nvPicPr>
            <p:cNvPr id="7" name="Image 6" descr="Une image contenant texte, Police, capture d’écran, ligne&#10;&#10;Le contenu généré par l’IA peut être incorrect.">
              <a:extLst>
                <a:ext uri="{FF2B5EF4-FFF2-40B4-BE49-F238E27FC236}">
                  <a16:creationId xmlns:a16="http://schemas.microsoft.com/office/drawing/2014/main" id="{5BB4488D-24B6-B315-111C-80269F450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9153" y="3688017"/>
              <a:ext cx="5685013" cy="1436494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B9510A3C-F505-0382-3B28-49AA44B726D9}"/>
                </a:ext>
              </a:extLst>
            </p:cNvPr>
            <p:cNvSpPr/>
            <p:nvPr/>
          </p:nvSpPr>
          <p:spPr>
            <a:xfrm>
              <a:off x="2936723" y="4984207"/>
              <a:ext cx="275771" cy="22739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07371C2F-9282-3533-C580-F7F9AF196B99}"/>
                </a:ext>
              </a:extLst>
            </p:cNvPr>
            <p:cNvSpPr/>
            <p:nvPr/>
          </p:nvSpPr>
          <p:spPr>
            <a:xfrm>
              <a:off x="3834189" y="5026540"/>
              <a:ext cx="275771" cy="22739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734E613-7F80-346A-2838-8F67FE76227F}"/>
                </a:ext>
              </a:extLst>
            </p:cNvPr>
            <p:cNvSpPr/>
            <p:nvPr/>
          </p:nvSpPr>
          <p:spPr>
            <a:xfrm>
              <a:off x="4731655" y="5054359"/>
              <a:ext cx="275771" cy="22739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21C7E677-50C1-AADC-C429-5E01F51BAADF}"/>
                </a:ext>
              </a:extLst>
            </p:cNvPr>
            <p:cNvSpPr/>
            <p:nvPr/>
          </p:nvSpPr>
          <p:spPr>
            <a:xfrm>
              <a:off x="5885541" y="5211597"/>
              <a:ext cx="275771" cy="22739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5B82B02F-089F-5341-8C38-09E7EE145C5E}"/>
                </a:ext>
              </a:extLst>
            </p:cNvPr>
            <p:cNvSpPr/>
            <p:nvPr/>
          </p:nvSpPr>
          <p:spPr>
            <a:xfrm>
              <a:off x="6855579" y="4662474"/>
              <a:ext cx="275771" cy="22739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4354C8F2-8833-45E3-C911-B94D1CE8AB5C}"/>
              </a:ext>
            </a:extLst>
          </p:cNvPr>
          <p:cNvSpPr/>
          <p:nvPr/>
        </p:nvSpPr>
        <p:spPr>
          <a:xfrm>
            <a:off x="2927235" y="2572666"/>
            <a:ext cx="275771" cy="210941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142F2D5-C3B6-5EFE-FF20-9A793557C3C2}"/>
              </a:ext>
            </a:extLst>
          </p:cNvPr>
          <p:cNvSpPr txBox="1"/>
          <p:nvPr/>
        </p:nvSpPr>
        <p:spPr>
          <a:xfrm>
            <a:off x="939901" y="3226259"/>
            <a:ext cx="2070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1" dirty="0"/>
              <a:t>After applying </a:t>
            </a:r>
            <a:r>
              <a:rPr lang="fr-FR" b="1" i="1" dirty="0" err="1"/>
              <a:t>RUPP’s</a:t>
            </a:r>
            <a:r>
              <a:rPr lang="fr-FR" b="1" i="1" dirty="0"/>
              <a:t> </a:t>
            </a:r>
            <a:r>
              <a:rPr lang="fr-FR" b="1" i="1" dirty="0" err="1"/>
              <a:t>boilerplate</a:t>
            </a:r>
            <a:endParaRPr lang="fr-FR" b="1" i="1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0E515AD-E773-39A0-91ED-DBF92B76749A}"/>
              </a:ext>
            </a:extLst>
          </p:cNvPr>
          <p:cNvSpPr/>
          <p:nvPr/>
        </p:nvSpPr>
        <p:spPr>
          <a:xfrm>
            <a:off x="9265187" y="3741183"/>
            <a:ext cx="306040" cy="27393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7519BC-7839-E72D-28DC-8F644D881727}"/>
              </a:ext>
            </a:extLst>
          </p:cNvPr>
          <p:cNvSpPr/>
          <p:nvPr/>
        </p:nvSpPr>
        <p:spPr>
          <a:xfrm>
            <a:off x="428171" y="1088571"/>
            <a:ext cx="11335657" cy="1236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985315-A06B-0267-F386-977C73BB0198}"/>
              </a:ext>
            </a:extLst>
          </p:cNvPr>
          <p:cNvSpPr/>
          <p:nvPr/>
        </p:nvSpPr>
        <p:spPr>
          <a:xfrm>
            <a:off x="523095" y="4705129"/>
            <a:ext cx="11335657" cy="1236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733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6EF4-BCB9-5C39-1B3F-1B96246E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707B9CD1-F472-66FD-3461-2E0BC0D428EE}"/>
              </a:ext>
            </a:extLst>
          </p:cNvPr>
          <p:cNvSpPr txBox="1"/>
          <p:nvPr/>
        </p:nvSpPr>
        <p:spPr>
          <a:xfrm>
            <a:off x="628953" y="433977"/>
            <a:ext cx="11442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Stakeholder’s requirement (need) in terms of ergonomics and human factors </a:t>
            </a:r>
            <a:r>
              <a:rPr lang="fr-FR" b="1" dirty="0"/>
              <a:t>:</a:t>
            </a:r>
          </a:p>
          <a:p>
            <a:r>
              <a:rPr lang="fr-FR" dirty="0"/>
              <a:t>« </a:t>
            </a:r>
            <a:r>
              <a:rPr lang="en-US" dirty="0"/>
              <a:t>BT001- The user wants all Human-Machine Interfaces (HMIs) of the Workshop A’s DTS to be highly intuitive</a:t>
            </a:r>
            <a:r>
              <a:rPr lang="fr-FR" dirty="0"/>
              <a:t>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4EAD71-E71A-F6C4-8D6D-F6F23F230E6A}"/>
              </a:ext>
            </a:extLst>
          </p:cNvPr>
          <p:cNvSpPr txBox="1"/>
          <p:nvPr/>
        </p:nvSpPr>
        <p:spPr>
          <a:xfrm>
            <a:off x="798161" y="3884535"/>
            <a:ext cx="114420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DTS </a:t>
            </a:r>
            <a:r>
              <a:rPr lang="en-US" b="1" dirty="0"/>
              <a:t>requirements in terms of Interface (HMIs)</a:t>
            </a:r>
            <a:r>
              <a:rPr lang="fr-FR" b="1" dirty="0"/>
              <a:t>:</a:t>
            </a:r>
          </a:p>
          <a:p>
            <a:r>
              <a:rPr lang="en-US" dirty="0"/>
              <a:t>“ET001 – </a:t>
            </a:r>
            <a:r>
              <a:rPr lang="en-US" dirty="0">
                <a:solidFill>
                  <a:srgbClr val="C00000"/>
                </a:solidFill>
              </a:rPr>
              <a:t>The Workshop A’s DTS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should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provide the user with the ability to use in a highly intuitive way </a:t>
            </a:r>
            <a:r>
              <a:rPr lang="en-US" dirty="0">
                <a:solidFill>
                  <a:srgbClr val="E97132"/>
                </a:solidFill>
              </a:rPr>
              <a:t>the HMI</a:t>
            </a:r>
            <a:r>
              <a:rPr lang="en-US" dirty="0"/>
              <a:t> </a:t>
            </a:r>
            <a:r>
              <a:rPr lang="en-US" dirty="0">
                <a:solidFill>
                  <a:srgbClr val="46B1E1"/>
                </a:solidFill>
              </a:rPr>
              <a:t>dedicated to the simulation</a:t>
            </a:r>
            <a:r>
              <a:rPr lang="en-US" dirty="0"/>
              <a:t>.”</a:t>
            </a:r>
          </a:p>
          <a:p>
            <a:r>
              <a:rPr lang="en-US" dirty="0"/>
              <a:t>“ET002 – </a:t>
            </a:r>
            <a:r>
              <a:rPr lang="en-US" dirty="0">
                <a:solidFill>
                  <a:srgbClr val="C00000"/>
                </a:solidFill>
              </a:rPr>
              <a:t>The Workshop A’s DTS </a:t>
            </a:r>
            <a:r>
              <a:rPr lang="en-US" dirty="0">
                <a:solidFill>
                  <a:srgbClr val="00B050"/>
                </a:solidFill>
              </a:rPr>
              <a:t>shall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provide the user with the ability to use in a very simple and intuitive way</a:t>
            </a:r>
            <a:r>
              <a:rPr lang="en-US" dirty="0"/>
              <a:t> </a:t>
            </a:r>
            <a:r>
              <a:rPr lang="en-US" dirty="0">
                <a:solidFill>
                  <a:srgbClr val="E97132"/>
                </a:solidFill>
              </a:rPr>
              <a:t>the HMI</a:t>
            </a:r>
            <a:r>
              <a:rPr lang="en-US" dirty="0"/>
              <a:t> </a:t>
            </a:r>
            <a:r>
              <a:rPr lang="en-US" dirty="0">
                <a:solidFill>
                  <a:srgbClr val="46B1E1"/>
                </a:solidFill>
              </a:rPr>
              <a:t>dedicated to the visualization of the data contained in the database of products orders</a:t>
            </a:r>
            <a:r>
              <a:rPr lang="en-US" dirty="0"/>
              <a:t>.”</a:t>
            </a:r>
          </a:p>
          <a:p>
            <a:r>
              <a:rPr lang="en-US" dirty="0"/>
              <a:t>“ET003 - </a:t>
            </a:r>
            <a:r>
              <a:rPr lang="en-US" dirty="0">
                <a:solidFill>
                  <a:srgbClr val="C00000"/>
                </a:solidFill>
              </a:rPr>
              <a:t>The Workshop A’s DTS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shall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provide the user with the ability to use in a very simple and intuitive way</a:t>
            </a:r>
            <a:r>
              <a:rPr lang="en-US" dirty="0"/>
              <a:t> </a:t>
            </a:r>
            <a:r>
              <a:rPr lang="en-US" dirty="0">
                <a:solidFill>
                  <a:srgbClr val="E97132"/>
                </a:solidFill>
              </a:rPr>
              <a:t>the HMI</a:t>
            </a:r>
            <a:r>
              <a:rPr lang="en-US" dirty="0"/>
              <a:t> </a:t>
            </a:r>
            <a:r>
              <a:rPr lang="en-US" dirty="0">
                <a:solidFill>
                  <a:srgbClr val="46B1E1"/>
                </a:solidFill>
              </a:rPr>
              <a:t>dedicated to the visualization of the data contained in the database of energy loading</a:t>
            </a:r>
            <a:r>
              <a:rPr lang="en-US" dirty="0"/>
              <a:t>.”</a:t>
            </a:r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5EFDB058-3BF5-A6A8-A5F2-11567D861659}"/>
              </a:ext>
            </a:extLst>
          </p:cNvPr>
          <p:cNvGrpSpPr/>
          <p:nvPr/>
        </p:nvGrpSpPr>
        <p:grpSpPr>
          <a:xfrm>
            <a:off x="3560712" y="1631991"/>
            <a:ext cx="6309002" cy="2109410"/>
            <a:chOff x="2659153" y="3688017"/>
            <a:chExt cx="5685013" cy="1750970"/>
          </a:xfrm>
        </p:grpSpPr>
        <p:pic>
          <p:nvPicPr>
            <p:cNvPr id="7" name="Image 6" descr="Une image contenant texte, Police, capture d’écran, ligne&#10;&#10;Le contenu généré par l’IA peut être incorrect.">
              <a:extLst>
                <a:ext uri="{FF2B5EF4-FFF2-40B4-BE49-F238E27FC236}">
                  <a16:creationId xmlns:a16="http://schemas.microsoft.com/office/drawing/2014/main" id="{6B4F6F0C-07DA-41BA-0CB1-0C719F26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9153" y="3688017"/>
              <a:ext cx="5685013" cy="1436494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8D6E8E80-F21B-8872-3BB6-32F163F97813}"/>
                </a:ext>
              </a:extLst>
            </p:cNvPr>
            <p:cNvSpPr/>
            <p:nvPr/>
          </p:nvSpPr>
          <p:spPr>
            <a:xfrm>
              <a:off x="2936723" y="4984207"/>
              <a:ext cx="275771" cy="22739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289E0BB2-0D50-685F-ADCC-815008F18EA1}"/>
                </a:ext>
              </a:extLst>
            </p:cNvPr>
            <p:cNvSpPr/>
            <p:nvPr/>
          </p:nvSpPr>
          <p:spPr>
            <a:xfrm>
              <a:off x="3834189" y="5026540"/>
              <a:ext cx="275771" cy="22739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59EF62A-35E2-A227-00DD-E09FE9D15785}"/>
                </a:ext>
              </a:extLst>
            </p:cNvPr>
            <p:cNvSpPr/>
            <p:nvPr/>
          </p:nvSpPr>
          <p:spPr>
            <a:xfrm>
              <a:off x="4731655" y="5054359"/>
              <a:ext cx="275771" cy="22739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AE2B058-E89C-E5A1-6CC5-89F6144EC1B0}"/>
                </a:ext>
              </a:extLst>
            </p:cNvPr>
            <p:cNvSpPr/>
            <p:nvPr/>
          </p:nvSpPr>
          <p:spPr>
            <a:xfrm>
              <a:off x="5885541" y="5211597"/>
              <a:ext cx="275771" cy="22739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D6C8FEB-7FB3-03ED-5453-8ABA8EC024D4}"/>
                </a:ext>
              </a:extLst>
            </p:cNvPr>
            <p:cNvSpPr/>
            <p:nvPr/>
          </p:nvSpPr>
          <p:spPr>
            <a:xfrm>
              <a:off x="6855579" y="4662474"/>
              <a:ext cx="275771" cy="22739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3D977B88-C3CE-80D1-ACF6-5FF5E0FD8551}"/>
              </a:ext>
            </a:extLst>
          </p:cNvPr>
          <p:cNvSpPr/>
          <p:nvPr/>
        </p:nvSpPr>
        <p:spPr>
          <a:xfrm>
            <a:off x="2903044" y="1774380"/>
            <a:ext cx="275771" cy="210941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F6481F1-CE8E-F258-5F7C-FFA0EC9649FA}"/>
              </a:ext>
            </a:extLst>
          </p:cNvPr>
          <p:cNvSpPr txBox="1"/>
          <p:nvPr/>
        </p:nvSpPr>
        <p:spPr>
          <a:xfrm>
            <a:off x="915710" y="2427973"/>
            <a:ext cx="2070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1" dirty="0"/>
              <a:t>After applying </a:t>
            </a:r>
            <a:r>
              <a:rPr lang="fr-FR" b="1" i="1" dirty="0" err="1"/>
              <a:t>RUPP’s</a:t>
            </a:r>
            <a:r>
              <a:rPr lang="fr-FR" b="1" i="1" dirty="0"/>
              <a:t> </a:t>
            </a:r>
            <a:r>
              <a:rPr lang="fr-FR" b="1" i="1" dirty="0" err="1"/>
              <a:t>boilerplate</a:t>
            </a:r>
            <a:endParaRPr lang="fr-FR" b="1" i="1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53B3CFD-1DC7-12E5-71DA-376593AF659A}"/>
              </a:ext>
            </a:extLst>
          </p:cNvPr>
          <p:cNvSpPr/>
          <p:nvPr/>
        </p:nvSpPr>
        <p:spPr>
          <a:xfrm>
            <a:off x="9240996" y="2942897"/>
            <a:ext cx="306040" cy="27393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EEAC30-8A23-A086-D99A-BE6E6E4E67D1}"/>
              </a:ext>
            </a:extLst>
          </p:cNvPr>
          <p:cNvSpPr/>
          <p:nvPr/>
        </p:nvSpPr>
        <p:spPr>
          <a:xfrm>
            <a:off x="403980" y="290285"/>
            <a:ext cx="11335657" cy="1236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33C0E1-C956-9BB3-ABFE-5B83A449EAF8}"/>
              </a:ext>
            </a:extLst>
          </p:cNvPr>
          <p:cNvSpPr/>
          <p:nvPr/>
        </p:nvSpPr>
        <p:spPr>
          <a:xfrm>
            <a:off x="498904" y="3906843"/>
            <a:ext cx="11335657" cy="25171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51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6AB4-F530-67F6-43C8-C6ED04F1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919C3066-0540-7C7A-300C-3DC007B136E4}"/>
              </a:ext>
            </a:extLst>
          </p:cNvPr>
          <p:cNvSpPr txBox="1"/>
          <p:nvPr/>
        </p:nvSpPr>
        <p:spPr>
          <a:xfrm>
            <a:off x="2260238" y="1228143"/>
            <a:ext cx="812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Non-functional stakeholder’s requirement (need) in terms of </a:t>
            </a:r>
            <a:r>
              <a:rPr lang="en-US" b="1" dirty="0" err="1"/>
              <a:t>Evolutivity</a:t>
            </a:r>
            <a:r>
              <a:rPr lang="en-US" b="1" dirty="0"/>
              <a:t> </a:t>
            </a:r>
            <a:r>
              <a:rPr lang="fr-FR" b="1" dirty="0"/>
              <a:t>:</a:t>
            </a:r>
          </a:p>
          <a:p>
            <a:r>
              <a:rPr lang="fr-FR" dirty="0"/>
              <a:t>«  </a:t>
            </a:r>
            <a:r>
              <a:rPr lang="en-US" dirty="0"/>
              <a:t>NNF004- All the stakeholders want the Workshop A’s DTS to be easy to evolve.</a:t>
            </a:r>
            <a:r>
              <a:rPr lang="fr-FR" dirty="0"/>
              <a:t> 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1E42A4F-D336-0BAE-900B-3FCDA9590E7B}"/>
              </a:ext>
            </a:extLst>
          </p:cNvPr>
          <p:cNvSpPr txBox="1"/>
          <p:nvPr/>
        </p:nvSpPr>
        <p:spPr>
          <a:xfrm>
            <a:off x="2353398" y="4720897"/>
            <a:ext cx="612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Non-functional</a:t>
            </a:r>
            <a:r>
              <a:rPr lang="fr-FR" b="1" dirty="0"/>
              <a:t> </a:t>
            </a:r>
            <a:r>
              <a:rPr lang="en-US" b="1" noProof="0" dirty="0"/>
              <a:t>DTS requirement :</a:t>
            </a:r>
          </a:p>
          <a:p>
            <a:r>
              <a:rPr lang="fr-FR" dirty="0"/>
              <a:t>« </a:t>
            </a:r>
            <a:r>
              <a:rPr lang="en-US" dirty="0"/>
              <a:t>RNF004 –</a:t>
            </a:r>
            <a:r>
              <a:rPr lang="en-US" b="1" dirty="0">
                <a:solidFill>
                  <a:srgbClr val="00B050"/>
                </a:solidFill>
              </a:rPr>
              <a:t>The Workshop A’s DTS </a:t>
            </a:r>
            <a:r>
              <a:rPr lang="en-US" b="1" dirty="0">
                <a:solidFill>
                  <a:srgbClr val="7030A0"/>
                </a:solidFill>
              </a:rPr>
              <a:t>shall </a:t>
            </a:r>
            <a:r>
              <a:rPr lang="en-US" b="1" dirty="0">
                <a:solidFill>
                  <a:srgbClr val="E97132"/>
                </a:solidFill>
              </a:rPr>
              <a:t>be easy to evolve</a:t>
            </a:r>
            <a:r>
              <a:rPr lang="fr-FR" dirty="0"/>
              <a:t>»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82197F4-69E8-861E-764B-2B02F7CCCD36}"/>
              </a:ext>
            </a:extLst>
          </p:cNvPr>
          <p:cNvGrpSpPr/>
          <p:nvPr/>
        </p:nvGrpSpPr>
        <p:grpSpPr>
          <a:xfrm>
            <a:off x="3586583" y="2383577"/>
            <a:ext cx="5913632" cy="1988992"/>
            <a:chOff x="3586583" y="2383577"/>
            <a:chExt cx="5913632" cy="1988992"/>
          </a:xfrm>
        </p:grpSpPr>
        <p:pic>
          <p:nvPicPr>
            <p:cNvPr id="3" name="Image 2" descr="Une image contenant texte, capture d’écran, Police, ligne&#10;&#10;Le contenu généré par l’IA peut être incorrect.">
              <a:extLst>
                <a:ext uri="{FF2B5EF4-FFF2-40B4-BE49-F238E27FC236}">
                  <a16:creationId xmlns:a16="http://schemas.microsoft.com/office/drawing/2014/main" id="{0630BA62-1641-6F7C-DB40-B8CA0955B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6583" y="2383577"/>
              <a:ext cx="5913632" cy="1988992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3BF4A4FE-9998-47F6-262F-D9B4306CF0CE}"/>
                </a:ext>
              </a:extLst>
            </p:cNvPr>
            <p:cNvSpPr/>
            <p:nvPr/>
          </p:nvSpPr>
          <p:spPr>
            <a:xfrm>
              <a:off x="3797051" y="4059959"/>
              <a:ext cx="306040" cy="27393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FDC09A75-2FD7-B0F0-827B-D3B7C5E3874C}"/>
                </a:ext>
              </a:extLst>
            </p:cNvPr>
            <p:cNvSpPr/>
            <p:nvPr/>
          </p:nvSpPr>
          <p:spPr>
            <a:xfrm>
              <a:off x="5354842" y="3952673"/>
              <a:ext cx="306040" cy="27393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AEF01D27-B1C6-8BC6-E82F-C15E9621137A}"/>
                </a:ext>
              </a:extLst>
            </p:cNvPr>
            <p:cNvSpPr/>
            <p:nvPr/>
          </p:nvSpPr>
          <p:spPr>
            <a:xfrm>
              <a:off x="7123101" y="3735620"/>
              <a:ext cx="306040" cy="27393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288B91A0-0231-EF64-141F-305626FD306B}"/>
                </a:ext>
              </a:extLst>
            </p:cNvPr>
            <p:cNvSpPr/>
            <p:nvPr/>
          </p:nvSpPr>
          <p:spPr>
            <a:xfrm>
              <a:off x="8055574" y="3587219"/>
              <a:ext cx="306040" cy="273939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F9B56F8C-47F9-D203-0607-54371F6D147F}"/>
                </a:ext>
              </a:extLst>
            </p:cNvPr>
            <p:cNvSpPr/>
            <p:nvPr/>
          </p:nvSpPr>
          <p:spPr>
            <a:xfrm>
              <a:off x="8924797" y="3724188"/>
              <a:ext cx="306040" cy="27393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67DD141B-F6E7-9675-C6AE-FF74E9A71358}"/>
              </a:ext>
            </a:extLst>
          </p:cNvPr>
          <p:cNvSpPr/>
          <p:nvPr/>
        </p:nvSpPr>
        <p:spPr>
          <a:xfrm>
            <a:off x="2927235" y="2572666"/>
            <a:ext cx="275771" cy="210941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5820A4D-134A-BAEC-E36B-74138A4CB2DD}"/>
              </a:ext>
            </a:extLst>
          </p:cNvPr>
          <p:cNvSpPr txBox="1"/>
          <p:nvPr/>
        </p:nvSpPr>
        <p:spPr>
          <a:xfrm>
            <a:off x="939901" y="3226259"/>
            <a:ext cx="2070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noProof="0" dirty="0"/>
              <a:t>After applying EARS’ boilerplate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F7C952-7409-79C8-F8F7-166CE74C6FB8}"/>
              </a:ext>
            </a:extLst>
          </p:cNvPr>
          <p:cNvSpPr/>
          <p:nvPr/>
        </p:nvSpPr>
        <p:spPr>
          <a:xfrm>
            <a:off x="2035266" y="1084451"/>
            <a:ext cx="8346440" cy="123679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9B13BD-26FA-FF13-F0B9-274984A2F276}"/>
              </a:ext>
            </a:extLst>
          </p:cNvPr>
          <p:cNvSpPr/>
          <p:nvPr/>
        </p:nvSpPr>
        <p:spPr>
          <a:xfrm>
            <a:off x="2054141" y="4743206"/>
            <a:ext cx="6307473" cy="94273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668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7CA0B-17D5-1F26-C165-EBB01FB5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7C2211EE-8808-6BC7-86EF-A32A37CC30F9}"/>
              </a:ext>
            </a:extLst>
          </p:cNvPr>
          <p:cNvSpPr txBox="1"/>
          <p:nvPr/>
        </p:nvSpPr>
        <p:spPr>
          <a:xfrm>
            <a:off x="1104493" y="826644"/>
            <a:ext cx="9829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Operational stakeholder’s requirement (need) in terms of Installation/Deployment/Delivery /Configuration</a:t>
            </a:r>
            <a:r>
              <a:rPr lang="fr-FR" b="1" dirty="0"/>
              <a:t>:</a:t>
            </a:r>
          </a:p>
          <a:p>
            <a:r>
              <a:rPr lang="fr-FR" dirty="0"/>
              <a:t>«  </a:t>
            </a:r>
            <a:r>
              <a:rPr lang="en-US" dirty="0"/>
              <a:t>NO001- The Company wants any version of any Modeling &amp; Simulation’s sub-project composing the Workshop A’s DTS to be stored and accessible for any update-related modifications within a repository</a:t>
            </a:r>
            <a:r>
              <a:rPr lang="fr-FR" dirty="0"/>
              <a:t>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E65F532-A3F9-5B17-DEE7-E1C353637FC0}"/>
              </a:ext>
            </a:extLst>
          </p:cNvPr>
          <p:cNvSpPr txBox="1"/>
          <p:nvPr/>
        </p:nvSpPr>
        <p:spPr>
          <a:xfrm>
            <a:off x="1386280" y="4861229"/>
            <a:ext cx="9736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Operational DTS requirement </a:t>
            </a:r>
            <a:r>
              <a:rPr lang="en-US" b="1" dirty="0"/>
              <a:t>in terms of Installation/Deployment/Delivery/Configuration</a:t>
            </a:r>
            <a:r>
              <a:rPr lang="fr-FR" b="1" dirty="0"/>
              <a:t>:</a:t>
            </a:r>
          </a:p>
          <a:p>
            <a:r>
              <a:rPr lang="fr-FR" dirty="0"/>
              <a:t>« </a:t>
            </a:r>
            <a:r>
              <a:rPr lang="en-US" dirty="0"/>
              <a:t>RO001 –</a:t>
            </a:r>
            <a:r>
              <a:rPr lang="en-US" b="1" dirty="0">
                <a:solidFill>
                  <a:srgbClr val="156082"/>
                </a:solidFill>
              </a:rPr>
              <a:t>While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the Workshop A’s DTS is deployed, delivered and configured,</a:t>
            </a:r>
            <a:r>
              <a:rPr lang="en-US" b="1" dirty="0">
                <a:solidFill>
                  <a:srgbClr val="00B050"/>
                </a:solidFill>
              </a:rPr>
              <a:t> any Workshop A’s DTS’ version of any Modeling &amp; Simulation’s sub-project composing it </a:t>
            </a:r>
            <a:r>
              <a:rPr lang="en-US" b="1" dirty="0">
                <a:solidFill>
                  <a:srgbClr val="7030A0"/>
                </a:solidFill>
              </a:rPr>
              <a:t>shall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E97132"/>
                </a:solidFill>
              </a:rPr>
              <a:t>be stored and accessible for any update-related modifications within a central repository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fr-FR" dirty="0"/>
              <a:t>»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5690CE38-0A83-E846-EC91-F0D1990B3544}"/>
              </a:ext>
            </a:extLst>
          </p:cNvPr>
          <p:cNvGrpSpPr/>
          <p:nvPr/>
        </p:nvGrpSpPr>
        <p:grpSpPr>
          <a:xfrm>
            <a:off x="3586583" y="2383577"/>
            <a:ext cx="5913632" cy="1988992"/>
            <a:chOff x="3586583" y="2383577"/>
            <a:chExt cx="5913632" cy="1988992"/>
          </a:xfrm>
        </p:grpSpPr>
        <p:pic>
          <p:nvPicPr>
            <p:cNvPr id="3" name="Image 2" descr="Une image contenant texte, capture d’écran, Police, ligne&#10;&#10;Le contenu généré par l’IA peut être incorrect.">
              <a:extLst>
                <a:ext uri="{FF2B5EF4-FFF2-40B4-BE49-F238E27FC236}">
                  <a16:creationId xmlns:a16="http://schemas.microsoft.com/office/drawing/2014/main" id="{16BB42BD-78EA-EC38-5711-273EB9164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86583" y="2383577"/>
              <a:ext cx="5913632" cy="1988992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0316822D-7623-B463-4F59-D828FC135590}"/>
                </a:ext>
              </a:extLst>
            </p:cNvPr>
            <p:cNvSpPr/>
            <p:nvPr/>
          </p:nvSpPr>
          <p:spPr>
            <a:xfrm>
              <a:off x="3797051" y="4059959"/>
              <a:ext cx="306040" cy="27393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76833F5B-A248-26DB-E72F-DC4D4CA37EE4}"/>
                </a:ext>
              </a:extLst>
            </p:cNvPr>
            <p:cNvSpPr/>
            <p:nvPr/>
          </p:nvSpPr>
          <p:spPr>
            <a:xfrm>
              <a:off x="5354842" y="3952673"/>
              <a:ext cx="306040" cy="273939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225EE748-1B69-4F8C-74C5-90A7D4F54503}"/>
                </a:ext>
              </a:extLst>
            </p:cNvPr>
            <p:cNvSpPr/>
            <p:nvPr/>
          </p:nvSpPr>
          <p:spPr>
            <a:xfrm>
              <a:off x="7123101" y="3735620"/>
              <a:ext cx="306040" cy="27393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C90962C6-7B16-71AE-64CC-8C8090880CA3}"/>
                </a:ext>
              </a:extLst>
            </p:cNvPr>
            <p:cNvSpPr/>
            <p:nvPr/>
          </p:nvSpPr>
          <p:spPr>
            <a:xfrm>
              <a:off x="8055574" y="3587219"/>
              <a:ext cx="306040" cy="273939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8C236252-FBEE-4EC0-8229-F9038BCBC04A}"/>
                </a:ext>
              </a:extLst>
            </p:cNvPr>
            <p:cNvSpPr/>
            <p:nvPr/>
          </p:nvSpPr>
          <p:spPr>
            <a:xfrm>
              <a:off x="8924797" y="3724188"/>
              <a:ext cx="306040" cy="27393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2C28D489-9FF9-5F21-EC99-113A693BCBB6}"/>
              </a:ext>
            </a:extLst>
          </p:cNvPr>
          <p:cNvSpPr/>
          <p:nvPr/>
        </p:nvSpPr>
        <p:spPr>
          <a:xfrm>
            <a:off x="2927235" y="2572666"/>
            <a:ext cx="275771" cy="210941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AF7D18-20F7-4507-C439-1463D1F85074}"/>
              </a:ext>
            </a:extLst>
          </p:cNvPr>
          <p:cNvSpPr txBox="1"/>
          <p:nvPr/>
        </p:nvSpPr>
        <p:spPr>
          <a:xfrm>
            <a:off x="939901" y="3226259"/>
            <a:ext cx="2070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noProof="0" dirty="0"/>
              <a:t>After applying EARS’ boilerplate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08488E-4870-CDF2-91F7-09B81EED65B9}"/>
              </a:ext>
            </a:extLst>
          </p:cNvPr>
          <p:cNvSpPr/>
          <p:nvPr/>
        </p:nvSpPr>
        <p:spPr>
          <a:xfrm>
            <a:off x="939901" y="682952"/>
            <a:ext cx="10250424" cy="155466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8BF576-6711-577D-4B33-CD05582BF615}"/>
              </a:ext>
            </a:extLst>
          </p:cNvPr>
          <p:cNvSpPr/>
          <p:nvPr/>
        </p:nvSpPr>
        <p:spPr>
          <a:xfrm>
            <a:off x="1225296" y="4743206"/>
            <a:ext cx="10058399" cy="131835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4694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376</Words>
  <Application>Microsoft Office PowerPoint</Application>
  <PresentationFormat>Grand écran</PresentationFormat>
  <Paragraphs>22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Rindra MBOLAMANANAMALALA</dc:creator>
  <cp:lastModifiedBy>Rindra MBOLAMANANAMALALA</cp:lastModifiedBy>
  <cp:revision>13</cp:revision>
  <dcterms:created xsi:type="dcterms:W3CDTF">2026-01-26T16:10:14Z</dcterms:created>
  <dcterms:modified xsi:type="dcterms:W3CDTF">2026-01-27T11:00:24Z</dcterms:modified>
</cp:coreProperties>
</file>