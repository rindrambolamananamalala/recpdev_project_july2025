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  <a:srgbClr val="E97132"/>
    <a:srgbClr val="00B050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0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F087BA-F39E-238C-ACBC-A3EA5012A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89EEDBE-03CF-3CD9-6920-7C6F0079D1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F4F070-A4DA-5AEB-AA19-87DD5BA67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52E377-ED20-06F3-34B1-BEF694364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2BB768-7F31-4950-7361-5F7A8EAA0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6091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D87CBD-AC60-0B49-F7A1-9E5DDB8D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07E329-058B-7AA6-289D-73B42B36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616B3-161B-B8E2-63C4-F1F6977DC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417BFD-C14F-49BD-51F5-8B8524B13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311CF5-68A0-A6DD-96C6-2D04D610F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521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5415D-4C31-BD6C-155D-FCB85F0C7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62CF6D-E415-541B-2DE4-313BEC910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16D0DE-E224-96C3-905E-302DEE1E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9954AB-3421-D07B-5434-07C240D6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8A2A63-18A5-4765-1A50-EAA032EB3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721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D10B1-84A1-B293-94D4-BCDC80B3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E702BA-E59C-F16C-E6F8-7720E0E4A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6E7BD4-BBE2-26BB-6E93-C8EFD0457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648276-B1E2-F6D4-E4ED-C03BFA9CD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752A330-1C24-B7A1-35DA-2432BE5CA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A8AC2A-57F5-B57E-3A3A-6130BFFB4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8684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8F1D5F-E9E8-F398-3207-D307BE86B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1566C8-4F95-06BE-AEDD-397376EE9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DF75193-71D8-1855-9D8E-02495F0A96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0313AA8-B77E-7291-9670-428E6C434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1CED02E-6011-0B9F-4F40-3B1F555276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ECDA222-AAAB-2E13-C343-5259A9F5C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4C58DC3-3AC7-F72F-C69F-B2145B478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18FABD1-A386-ADBB-729D-FC7645CF7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725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89C181-9094-4387-03DE-89F1C4089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BCC44A0-EFBA-B36D-0966-1E56DD0F3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491FC6-B24D-4473-79B5-E8A13842A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99C8DB8-7238-FF7C-1B3C-DCE48B84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769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16ED28F-137A-38BB-7060-2E341549B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D649BD9-3BB1-B855-1FF1-521584E77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C1EA67-FE13-AA3B-D926-383AFBC58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8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0A72A7-A8DC-4F97-2ECE-1AADA01E3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2FF044-7C7A-E2CF-7897-6024C978A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76679C9-66E3-3B8E-AC2A-697365485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4D23076-9DD7-8E07-B869-73BD156D1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A9A7CA-BB76-9704-9271-CCFCFFD6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89FC4C6-0238-FB34-34F2-B205832B4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5940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1FF81D-0AEE-D42A-211C-AA5F0486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6942985-AF63-E852-0B46-CDEE09A1AE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EE604C3-08AA-3548-6CC1-DCA8DAEA4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61B02DE-CF4F-B420-B452-0AB748F9A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B1D2C7-3AC0-F2F5-B711-7F165B887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E64C43-2098-8F33-C4FE-48078CBAD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259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60B60-D65A-A9B1-CF70-2AD057DF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935B7F-CB64-1E80-9023-A7241ED21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3F46DC-FBAD-9D94-466A-284F2E11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CF466A-5C27-1EFA-7DC0-8D1A34158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4D3A5E-B5F5-A7EF-56DA-DE4BAC2E7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612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024A528-91C2-4F8D-2C8D-B5A04FA73C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B05D7DE-F254-4CB0-B1E0-9ACF2AD62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9A0A9B-F2C6-57D1-3DA1-4E6A95B79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FB079D-550C-BF33-2270-795EA2E04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997D25-2745-09B7-3D50-15BC9D6D3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208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BC3E9F4-DF6A-A713-8DBD-BB73DD440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C09B5E-D308-DB81-C383-A298C7BD8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1F7B32-6B8D-CD94-8D8A-A8040004DD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C27BA-B253-496D-A458-8E48DAC590A4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E0F51E-861B-EA79-174B-40FB04403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66F36-0676-B08D-0777-D83E9E5D4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29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18CFE006-38B0-0594-D2B4-30A17BE8AC6F}"/>
              </a:ext>
            </a:extLst>
          </p:cNvPr>
          <p:cNvSpPr txBox="1"/>
          <p:nvPr/>
        </p:nvSpPr>
        <p:spPr>
          <a:xfrm>
            <a:off x="653144" y="1232263"/>
            <a:ext cx="11442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Functional</a:t>
            </a:r>
            <a:r>
              <a:rPr lang="fr-FR" b="1" dirty="0"/>
              <a:t> </a:t>
            </a:r>
            <a:r>
              <a:rPr lang="fr-FR" b="1" dirty="0" err="1"/>
              <a:t>Stakeholder’s</a:t>
            </a:r>
            <a:r>
              <a:rPr lang="fr-FR" b="1" dirty="0"/>
              <a:t> </a:t>
            </a:r>
            <a:r>
              <a:rPr lang="fr-FR" b="1" dirty="0" err="1"/>
              <a:t>requirement</a:t>
            </a:r>
            <a:r>
              <a:rPr lang="fr-FR" b="1" dirty="0"/>
              <a:t> (</a:t>
            </a:r>
            <a:r>
              <a:rPr lang="fr-FR" b="1" dirty="0" err="1"/>
              <a:t>need</a:t>
            </a:r>
            <a:r>
              <a:rPr lang="fr-FR" b="1" dirty="0"/>
              <a:t>):</a:t>
            </a:r>
          </a:p>
          <a:p>
            <a:r>
              <a:rPr lang="fr-FR" dirty="0"/>
              <a:t>«  </a:t>
            </a:r>
            <a:r>
              <a:rPr lang="en-US" dirty="0"/>
              <a:t>BF001- The user wants the Workshop A’s DTS to simulate a scenario of machines allocation which he/she provides</a:t>
            </a:r>
            <a:r>
              <a:rPr lang="fr-FR" dirty="0"/>
              <a:t> 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8DE0CB-12FD-6B63-7D2B-EC0D57079368}"/>
              </a:ext>
            </a:extLst>
          </p:cNvPr>
          <p:cNvSpPr txBox="1"/>
          <p:nvPr/>
        </p:nvSpPr>
        <p:spPr>
          <a:xfrm>
            <a:off x="822352" y="4682821"/>
            <a:ext cx="11442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Functional</a:t>
            </a:r>
            <a:r>
              <a:rPr lang="fr-FR" b="1" dirty="0"/>
              <a:t> DTS </a:t>
            </a:r>
            <a:r>
              <a:rPr lang="fr-FR" b="1" dirty="0" err="1"/>
              <a:t>requirement</a:t>
            </a:r>
            <a:r>
              <a:rPr lang="fr-FR" b="1" dirty="0"/>
              <a:t> :</a:t>
            </a:r>
          </a:p>
          <a:p>
            <a:r>
              <a:rPr lang="fr-FR" dirty="0"/>
              <a:t>« </a:t>
            </a:r>
            <a:r>
              <a:rPr lang="en-US" dirty="0"/>
              <a:t>EF001 – </a:t>
            </a:r>
            <a:r>
              <a:rPr lang="en-US" b="1" dirty="0">
                <a:solidFill>
                  <a:schemeClr val="accent1"/>
                </a:solidFill>
              </a:rPr>
              <a:t>When a user provides a scenario of machines allocations</a:t>
            </a:r>
            <a:r>
              <a:rPr lang="en-US" b="1" dirty="0"/>
              <a:t>, </a:t>
            </a:r>
            <a:r>
              <a:rPr lang="en-US" b="1" dirty="0">
                <a:solidFill>
                  <a:srgbClr val="C00000"/>
                </a:solidFill>
              </a:rPr>
              <a:t>the Workshop A’s DTS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shall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5"/>
                </a:solidFill>
              </a:rPr>
              <a:t>be able to simulate </a:t>
            </a:r>
            <a:r>
              <a:rPr lang="en-US" b="1" dirty="0">
                <a:solidFill>
                  <a:srgbClr val="E97132"/>
                </a:solidFill>
              </a:rPr>
              <a:t>it</a:t>
            </a:r>
            <a:r>
              <a:rPr lang="fr-FR" dirty="0"/>
              <a:t>»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6D89EBE2-F1D5-E7D0-FFAA-6183AD11451F}"/>
              </a:ext>
            </a:extLst>
          </p:cNvPr>
          <p:cNvGrpSpPr/>
          <p:nvPr/>
        </p:nvGrpSpPr>
        <p:grpSpPr>
          <a:xfrm>
            <a:off x="3584903" y="2430277"/>
            <a:ext cx="6309002" cy="2109410"/>
            <a:chOff x="2659153" y="3688017"/>
            <a:chExt cx="5685013" cy="1750970"/>
          </a:xfrm>
        </p:grpSpPr>
        <p:pic>
          <p:nvPicPr>
            <p:cNvPr id="7" name="Image 6" descr="Une image contenant texte, Polic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5BB4488D-24B6-B315-111C-80269F450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9153" y="3688017"/>
              <a:ext cx="5685013" cy="1436494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B9510A3C-F505-0382-3B28-49AA44B726D9}"/>
                </a:ext>
              </a:extLst>
            </p:cNvPr>
            <p:cNvSpPr/>
            <p:nvPr/>
          </p:nvSpPr>
          <p:spPr>
            <a:xfrm>
              <a:off x="2936723" y="4984207"/>
              <a:ext cx="275771" cy="22739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07371C2F-9282-3533-C580-F7F9AF196B99}"/>
                </a:ext>
              </a:extLst>
            </p:cNvPr>
            <p:cNvSpPr/>
            <p:nvPr/>
          </p:nvSpPr>
          <p:spPr>
            <a:xfrm>
              <a:off x="3834189" y="5026540"/>
              <a:ext cx="275771" cy="227390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734E613-7F80-346A-2838-8F67FE76227F}"/>
                </a:ext>
              </a:extLst>
            </p:cNvPr>
            <p:cNvSpPr/>
            <p:nvPr/>
          </p:nvSpPr>
          <p:spPr>
            <a:xfrm>
              <a:off x="4731655" y="5054359"/>
              <a:ext cx="275771" cy="22739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21C7E677-50C1-AADC-C429-5E01F51BAADF}"/>
                </a:ext>
              </a:extLst>
            </p:cNvPr>
            <p:cNvSpPr/>
            <p:nvPr/>
          </p:nvSpPr>
          <p:spPr>
            <a:xfrm>
              <a:off x="5885541" y="5211597"/>
              <a:ext cx="275771" cy="22739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5B82B02F-089F-5341-8C38-09E7EE145C5E}"/>
                </a:ext>
              </a:extLst>
            </p:cNvPr>
            <p:cNvSpPr/>
            <p:nvPr/>
          </p:nvSpPr>
          <p:spPr>
            <a:xfrm>
              <a:off x="6855579" y="4662474"/>
              <a:ext cx="275771" cy="22739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4354C8F2-8833-45E3-C911-B94D1CE8AB5C}"/>
              </a:ext>
            </a:extLst>
          </p:cNvPr>
          <p:cNvSpPr/>
          <p:nvPr/>
        </p:nvSpPr>
        <p:spPr>
          <a:xfrm>
            <a:off x="2927235" y="2572666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142F2D5-C3B6-5EFE-FF20-9A793557C3C2}"/>
              </a:ext>
            </a:extLst>
          </p:cNvPr>
          <p:cNvSpPr txBox="1"/>
          <p:nvPr/>
        </p:nvSpPr>
        <p:spPr>
          <a:xfrm>
            <a:off x="939901" y="3226259"/>
            <a:ext cx="20707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 err="1"/>
              <a:t>After</a:t>
            </a:r>
            <a:r>
              <a:rPr lang="fr-FR" b="1" i="1" dirty="0"/>
              <a:t> </a:t>
            </a:r>
            <a:r>
              <a:rPr lang="fr-FR" b="1" i="1" dirty="0" err="1"/>
              <a:t>applying</a:t>
            </a:r>
            <a:r>
              <a:rPr lang="fr-FR" b="1" i="1" dirty="0"/>
              <a:t> </a:t>
            </a:r>
            <a:r>
              <a:rPr lang="fr-FR" b="1" i="1" dirty="0" err="1"/>
              <a:t>RUPP’s</a:t>
            </a:r>
            <a:r>
              <a:rPr lang="fr-FR" b="1" i="1" dirty="0"/>
              <a:t> </a:t>
            </a:r>
            <a:r>
              <a:rPr lang="fr-FR" b="1" i="1" dirty="0" err="1"/>
              <a:t>boilerplate</a:t>
            </a:r>
            <a:endParaRPr lang="fr-FR" b="1" i="1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515AD-E773-39A0-91ED-DBF92B76749A}"/>
              </a:ext>
            </a:extLst>
          </p:cNvPr>
          <p:cNvSpPr/>
          <p:nvPr/>
        </p:nvSpPr>
        <p:spPr>
          <a:xfrm>
            <a:off x="9265187" y="3741183"/>
            <a:ext cx="306040" cy="27393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7519BC-7839-E72D-28DC-8F644D881727}"/>
              </a:ext>
            </a:extLst>
          </p:cNvPr>
          <p:cNvSpPr/>
          <p:nvPr/>
        </p:nvSpPr>
        <p:spPr>
          <a:xfrm>
            <a:off x="428171" y="1088571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985315-A06B-0267-F386-977C73BB0198}"/>
              </a:ext>
            </a:extLst>
          </p:cNvPr>
          <p:cNvSpPr/>
          <p:nvPr/>
        </p:nvSpPr>
        <p:spPr>
          <a:xfrm>
            <a:off x="523095" y="4705129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733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6EF4-BCB9-5C39-1B3F-1B96246E4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707B9CD1-F472-66FD-3461-2E0BC0D428EE}"/>
              </a:ext>
            </a:extLst>
          </p:cNvPr>
          <p:cNvSpPr txBox="1"/>
          <p:nvPr/>
        </p:nvSpPr>
        <p:spPr>
          <a:xfrm>
            <a:off x="628953" y="433977"/>
            <a:ext cx="11442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Stakeholder’s requirement (need) in terms of ergonomics and human factors </a:t>
            </a:r>
            <a:r>
              <a:rPr lang="fr-FR" b="1" dirty="0"/>
              <a:t>:</a:t>
            </a:r>
          </a:p>
          <a:p>
            <a:r>
              <a:rPr lang="fr-FR" dirty="0"/>
              <a:t>« </a:t>
            </a:r>
            <a:r>
              <a:rPr lang="en-US" dirty="0"/>
              <a:t>BT001- The user wants all Human-Machine Interfaces (HMIs) of the Workshop A’s DTS to be highly intuitive</a:t>
            </a:r>
            <a:r>
              <a:rPr lang="fr-FR" dirty="0"/>
              <a:t>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94EAD71-E71A-F6C4-8D6D-F6F23F230E6A}"/>
              </a:ext>
            </a:extLst>
          </p:cNvPr>
          <p:cNvSpPr txBox="1"/>
          <p:nvPr/>
        </p:nvSpPr>
        <p:spPr>
          <a:xfrm>
            <a:off x="798161" y="3884535"/>
            <a:ext cx="114420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DTS </a:t>
            </a:r>
            <a:r>
              <a:rPr lang="en-US" b="1" dirty="0"/>
              <a:t>requirements in terms of Interface (HMIs)</a:t>
            </a:r>
            <a:r>
              <a:rPr lang="fr-FR" b="1" dirty="0"/>
              <a:t>:</a:t>
            </a:r>
          </a:p>
          <a:p>
            <a:r>
              <a:rPr lang="en-US" dirty="0"/>
              <a:t>“ET001 – </a:t>
            </a:r>
            <a:r>
              <a:rPr lang="en-US" dirty="0">
                <a:solidFill>
                  <a:srgbClr val="C00000"/>
                </a:solidFill>
              </a:rPr>
              <a:t>The Workshop A’s DTS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should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highly intuitive way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simulation</a:t>
            </a:r>
            <a:r>
              <a:rPr lang="en-US" dirty="0"/>
              <a:t>.”</a:t>
            </a:r>
          </a:p>
          <a:p>
            <a:r>
              <a:rPr lang="en-US" dirty="0"/>
              <a:t>“ET002 – </a:t>
            </a:r>
            <a:r>
              <a:rPr lang="en-US" dirty="0">
                <a:solidFill>
                  <a:srgbClr val="C00000"/>
                </a:solidFill>
              </a:rPr>
              <a:t>The Workshop A’s DTS </a:t>
            </a:r>
            <a:r>
              <a:rPr lang="en-US" dirty="0">
                <a:solidFill>
                  <a:srgbClr val="00B050"/>
                </a:solidFill>
              </a:rPr>
              <a:t>shall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very simple and intuitive way</a:t>
            </a:r>
            <a:r>
              <a:rPr lang="en-US" dirty="0"/>
              <a:t>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visualization of the data contained in the database of products orders</a:t>
            </a:r>
            <a:r>
              <a:rPr lang="en-US" dirty="0"/>
              <a:t>.”</a:t>
            </a:r>
          </a:p>
          <a:p>
            <a:r>
              <a:rPr lang="en-US" dirty="0"/>
              <a:t>“ET003 - </a:t>
            </a:r>
            <a:r>
              <a:rPr lang="en-US" dirty="0">
                <a:solidFill>
                  <a:srgbClr val="C00000"/>
                </a:solidFill>
              </a:rPr>
              <a:t>The Workshop A’s DTS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shall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very simple and intuitive way</a:t>
            </a:r>
            <a:r>
              <a:rPr lang="en-US" dirty="0"/>
              <a:t>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visualization of the data contained in the database of energy loading</a:t>
            </a:r>
            <a:r>
              <a:rPr lang="en-US" dirty="0"/>
              <a:t>.”</a:t>
            </a:r>
            <a:endParaRPr lang="fr-FR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5EFDB058-3BF5-A6A8-A5F2-11567D861659}"/>
              </a:ext>
            </a:extLst>
          </p:cNvPr>
          <p:cNvGrpSpPr/>
          <p:nvPr/>
        </p:nvGrpSpPr>
        <p:grpSpPr>
          <a:xfrm>
            <a:off x="3560712" y="1631991"/>
            <a:ext cx="6309002" cy="2109410"/>
            <a:chOff x="2659153" y="3688017"/>
            <a:chExt cx="5685013" cy="1750970"/>
          </a:xfrm>
        </p:grpSpPr>
        <p:pic>
          <p:nvPicPr>
            <p:cNvPr id="7" name="Image 6" descr="Une image contenant texte, Polic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6B4F6F0C-07DA-41BA-0CB1-0C719F26B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9153" y="3688017"/>
              <a:ext cx="5685013" cy="1436494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8D6E8E80-F21B-8872-3BB6-32F163F97813}"/>
                </a:ext>
              </a:extLst>
            </p:cNvPr>
            <p:cNvSpPr/>
            <p:nvPr/>
          </p:nvSpPr>
          <p:spPr>
            <a:xfrm>
              <a:off x="2936723" y="4984207"/>
              <a:ext cx="275771" cy="22739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89E0BB2-0D50-685F-ADCC-815008F18EA1}"/>
                </a:ext>
              </a:extLst>
            </p:cNvPr>
            <p:cNvSpPr/>
            <p:nvPr/>
          </p:nvSpPr>
          <p:spPr>
            <a:xfrm>
              <a:off x="3834189" y="5026540"/>
              <a:ext cx="275771" cy="227390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59EF62A-35E2-A227-00DD-E09FE9D15785}"/>
                </a:ext>
              </a:extLst>
            </p:cNvPr>
            <p:cNvSpPr/>
            <p:nvPr/>
          </p:nvSpPr>
          <p:spPr>
            <a:xfrm>
              <a:off x="4731655" y="5054359"/>
              <a:ext cx="275771" cy="22739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AE2B058-E89C-E5A1-6CC5-89F6144EC1B0}"/>
                </a:ext>
              </a:extLst>
            </p:cNvPr>
            <p:cNvSpPr/>
            <p:nvPr/>
          </p:nvSpPr>
          <p:spPr>
            <a:xfrm>
              <a:off x="5885541" y="5211597"/>
              <a:ext cx="275771" cy="22739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DD6C8FEB-7FB3-03ED-5453-8ABA8EC024D4}"/>
                </a:ext>
              </a:extLst>
            </p:cNvPr>
            <p:cNvSpPr/>
            <p:nvPr/>
          </p:nvSpPr>
          <p:spPr>
            <a:xfrm>
              <a:off x="6855579" y="4662474"/>
              <a:ext cx="275771" cy="22739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3D977B88-C3CE-80D1-ACF6-5FF5E0FD8551}"/>
              </a:ext>
            </a:extLst>
          </p:cNvPr>
          <p:cNvSpPr/>
          <p:nvPr/>
        </p:nvSpPr>
        <p:spPr>
          <a:xfrm>
            <a:off x="2903044" y="1774380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481F1-CE8E-F258-5F7C-FFA0EC9649FA}"/>
              </a:ext>
            </a:extLst>
          </p:cNvPr>
          <p:cNvSpPr txBox="1"/>
          <p:nvPr/>
        </p:nvSpPr>
        <p:spPr>
          <a:xfrm>
            <a:off x="915710" y="2427973"/>
            <a:ext cx="20707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 err="1"/>
              <a:t>After</a:t>
            </a:r>
            <a:r>
              <a:rPr lang="fr-FR" b="1" i="1" dirty="0"/>
              <a:t> </a:t>
            </a:r>
            <a:r>
              <a:rPr lang="fr-FR" b="1" i="1" dirty="0" err="1"/>
              <a:t>applying</a:t>
            </a:r>
            <a:r>
              <a:rPr lang="fr-FR" b="1" i="1" dirty="0"/>
              <a:t> </a:t>
            </a:r>
            <a:r>
              <a:rPr lang="fr-FR" b="1" i="1" dirty="0" err="1"/>
              <a:t>RUPP’s</a:t>
            </a:r>
            <a:r>
              <a:rPr lang="fr-FR" b="1" i="1" dirty="0"/>
              <a:t> </a:t>
            </a:r>
            <a:r>
              <a:rPr lang="fr-FR" b="1" i="1" dirty="0" err="1"/>
              <a:t>boilerplate</a:t>
            </a:r>
            <a:endParaRPr lang="fr-FR" b="1" i="1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53B3CFD-1DC7-12E5-71DA-376593AF659A}"/>
              </a:ext>
            </a:extLst>
          </p:cNvPr>
          <p:cNvSpPr/>
          <p:nvPr/>
        </p:nvSpPr>
        <p:spPr>
          <a:xfrm>
            <a:off x="9240996" y="2942897"/>
            <a:ext cx="306040" cy="27393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EEAC30-8A23-A086-D99A-BE6E6E4E67D1}"/>
              </a:ext>
            </a:extLst>
          </p:cNvPr>
          <p:cNvSpPr/>
          <p:nvPr/>
        </p:nvSpPr>
        <p:spPr>
          <a:xfrm>
            <a:off x="403980" y="290285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33C0E1-C956-9BB3-ABFE-5B83A449EAF8}"/>
              </a:ext>
            </a:extLst>
          </p:cNvPr>
          <p:cNvSpPr/>
          <p:nvPr/>
        </p:nvSpPr>
        <p:spPr>
          <a:xfrm>
            <a:off x="498904" y="3906843"/>
            <a:ext cx="11335657" cy="251718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5161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216</Words>
  <Application>Microsoft Office PowerPoint</Application>
  <PresentationFormat>Grand écran</PresentationFormat>
  <Paragraphs>12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Rindra MBOLAMANANAMALALA</dc:creator>
  <cp:lastModifiedBy>Rindra MBOLAMANANAMALALA</cp:lastModifiedBy>
  <cp:revision>7</cp:revision>
  <dcterms:created xsi:type="dcterms:W3CDTF">2026-01-26T16:10:14Z</dcterms:created>
  <dcterms:modified xsi:type="dcterms:W3CDTF">2026-01-26T16:46:24Z</dcterms:modified>
</cp:coreProperties>
</file>